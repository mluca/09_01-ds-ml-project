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embeddedFontLst>
    <p:embeddedFont>
      <p:font typeface="Space Grotesk" pitchFamily="34" charset="0"/>
      <p:regular r:id="rId20"/>
      <p:bold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font" Target="fonts/font1.fntdata"/><Relationship Id="rId21"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The Gradient Descenders. 5.6 percent of STEG’s customers cheat their meter – about 7,500 of 135,000 customers in the data (exactly 7,566 of 135,493), about 1 in 18. Our job: tell STEG whom to inspect first.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the problem, the data, the leak that fooled us, the models, and what it means for STEG.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facts frame everything: fraud costs money, inspections are limited, so we do not need a yes/no answer for everyone – we need a ranking that puts the most likely fraudsters at the top of the inspection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started with 22 raw columns. Seven were not useful as input: two ID numbers, the answer itself, an unreliable date and three columns without any signal. From the rest we built 15 features per customer. 20 percent of the customers never touched our training – that is our honest final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is useless here: “never fraud” is 94.4 percent right and catches nobody. With a fixed inspection budget the only question is how many fraudsters we catch – 10,000 inspections is just an example budget. That is why we rank with ROC-AUC, the Zindi metric: it is the chance that a real fraudster gets a higher risk score than an honest customer. 0.5 is a coin flip, 1.0 is perfect; our best model reaches 0.82. It needs no threshold and is not fooled by the 94 percent honest customers – exactly what a priority list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signals we found while exploring the data. Read each bar like this: of all customers in this group, this many percent are fraudsters. On average it is 5.6 percent. In the special customer group (category 51) it is 16.9 percent – three times the average. Customers whose invoice does not match the meter reading cheat 1.6 times as often, a non-standard tariff 1.3 times. Meter status code 1 is the opposite: five times less fraud. One signal alone is weak; the model combines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just data leakage – target leakage: the feature only exists because the fraud was already found. Like a student who reads the answer sheet. We dropped it, accepted a lower score, and every model from now on is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baseline is deliberately naive: consumption only, no detective work. Even that more than doubles the hit rate of random visits: 1,280 instead of 560 fraudsters per 10,000 inspections. 10,000 is an example budget, not a STEG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team member built one model on the same honest split. AUC = how well the model puts fraudsters above honest customers: 0.5 is a coin flip, 1.0 is perfect. On the slide: one AUC per model, from the 5-fold cross-validation on the training part; the podium follows it. Holdout (final exam, 27,099 unseen customers): LightGBM 0.821, ensemble 0.690, XGBoost still to come. LightGBM: 0.819 in training, 0.821 on the holdout – it holds up. Fraudsters per 10,000 inspections come from the cross-validation; 10,000 is an example budget. Hadi's voting ensemble: 0.70 in training, 0.690 on the test set. XGBoost now also uses the meter codes, like Mohamed: 0.791 in training; on the test set it finds about 2,210 fraudsters per 10,000 inspections (precision 22.1 % at the top 10 %). Hadi's 1,350 is an estimate: his model's precision is not known yet, so we read it off our other models – an AUC of 0.70 sits between our baseline (0.663 → 1,280) and a logistic regression at 0.727 (→ 1,420). [Luca's test AUC still missing. n_counter_codes may be a second leak – team decision. Luca's per-10,000 number comes from the test set, the others from the CV.]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Mohamed's LightGBM got from 0.747 to 0.819. Start: 16 base features – consumption, zero bills, invoices that don't match the meter, tariff and customer group: 0.747. Adding where the customer lives brings it to 0.768. The usage pattern – how steady consumption is, drops over time, summer versus winter – adds only a little: 0.774. The big jump comes from bills and meters – gaps between bills, electricity versus gas, meter codes and customer age: 0.817. Tuning the settings on the training part only gives 0.819, and on the untouched holdout it holds at 0.821. [Steps 1–2 from Mohamed's notebook; steps 3–4 measured with the same folds and features, LightGBM without class weights (its base is 0.751). The jump in step 4 includes n_counter_codes – possible second leak, team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number STEG should remember: with the same inspection budget we find this many more fraudsters. Best model so far: LightGBM, about 2,450 instead of 1,280 – almost twice the baseline and 4.4 times random visits.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product would be a monthly priority list for the field teams. What held it back: we did not know when a fraud was detected, what some columns mean (e.g. months number), and whether using where people live is fair. What would make it better: if STEG stores the detection date, the target leak we found cannot happen again; smart meters give real-time data instead of one reading per invoice; and with more history, seasonal and trend signals per customer come on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ECDD"/>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50" y="1314408"/>
            <a:ext cx="10566473" cy="533360"/>
          </a:xfrm>
          <a:prstGeom prst="rect">
            <a:avLst/>
          </a:prstGeom>
          <a:noFill/>
          <a:ln/>
        </p:spPr>
        <p:txBody>
          <a:bodyPr wrap="square" lIns="0" tIns="0" rIns="0" bIns="0" rtlCol="0" anchor="t"/>
          <a:lstStyle>
            <a:lvl1pPr algn="l" indent="0" marL="0">
              <a:lnSpc>
                <a:spcPct val="115000"/>
              </a:lnSpc>
              <a:buNone/>
              <a:defRPr lang="en-US" sz="4000" dirty="0">
                <a:solidFill>
                  <a:srgbClr val="1F2B6C"/>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4000" dirty="0"/>
          </a:p>
        </p:txBody>
      </p:sp>
      <p:sp>
        <p:nvSpPr>
          <p:cNvPr id="3" name="Text Placeholder 2"/>
          <p:cNvSpPr/>
          <p:nvPr>
            <p:ph idx="101" type="body"/>
          </p:nvPr>
        </p:nvSpPr>
        <p:spPr>
          <a:xfrm>
            <a:off x="812750" y="2152568"/>
            <a:ext cx="10566450" cy="3892632"/>
          </a:xfrm>
          <a:prstGeom prst="rect">
            <a:avLst/>
          </a:prstGeom>
          <a:noFill/>
          <a:ln/>
        </p:spPr>
        <p:txBody>
          <a:bodyPr wrap="square" lIns="0" tIns="0" rIns="0" bIns="0" rtlCol="0" anchor="t"/>
          <a:lstStyle>
            <a:lvl1pPr algn="l" indent="0" marL="0">
              <a:lnSpc>
                <a:spcPct val="140000"/>
              </a:lnSpc>
              <a:buNone/>
              <a:defRPr lang="en-US" sz="1600" dirty="0">
                <a:solidFill>
                  <a:srgbClr val="1F2B6C"/>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ECDD"/>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50" y="1314408"/>
            <a:ext cx="10566473" cy="533360"/>
          </a:xfrm>
          <a:prstGeom prst="rect">
            <a:avLst/>
          </a:prstGeom>
          <a:noFill/>
          <a:ln/>
        </p:spPr>
        <p:txBody>
          <a:bodyPr wrap="square" lIns="0" tIns="0" rIns="0" bIns="0" rtlCol="0" anchor="t"/>
          <a:lstStyle>
            <a:lvl1pPr algn="l" indent="0" marL="0">
              <a:lnSpc>
                <a:spcPct val="115000"/>
              </a:lnSpc>
              <a:buNone/>
              <a:defRPr lang="en-US" sz="4000" dirty="0">
                <a:solidFill>
                  <a:srgbClr val="1F2B6C"/>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4000" dirty="0"/>
          </a:p>
        </p:txBody>
      </p:sp>
      <p:sp>
        <p:nvSpPr>
          <p:cNvPr id="3" name="Text Placeholder 2"/>
          <p:cNvSpPr/>
          <p:nvPr>
            <p:ph idx="101" type="body"/>
          </p:nvPr>
        </p:nvSpPr>
        <p:spPr>
          <a:xfrm>
            <a:off x="812750" y="2152568"/>
            <a:ext cx="10566450" cy="3892632"/>
          </a:xfrm>
          <a:prstGeom prst="rect">
            <a:avLst/>
          </a:prstGeom>
          <a:noFill/>
          <a:ln/>
        </p:spPr>
        <p:txBody>
          <a:bodyPr wrap="square" lIns="0" tIns="0" rIns="0" bIns="0" rtlCol="0" anchor="t"/>
          <a:lstStyle>
            <a:lvl1pPr algn="l" indent="0" marL="0">
              <a:lnSpc>
                <a:spcPct val="140000"/>
              </a:lnSpc>
              <a:buNone/>
              <a:defRPr lang="en-US" sz="1600" dirty="0">
                <a:solidFill>
                  <a:srgbClr val="1F2B6C"/>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B6C"/>
        </a:solidFill>
      </p:bgPr>
    </p:bg>
    <p:spTree>
      <p:nvGrpSpPr>
        <p:cNvPr id="1" name=""/>
        <p:cNvGrpSpPr/>
        <p:nvPr/>
      </p:nvGrpSpPr>
      <p:grpSpPr>
        <a:xfrm>
          <a:off x="0" y="0"/>
          <a:ext cx="0" cy="0"/>
          <a:chOff x="0" y="0"/>
          <a:chExt cx="0" cy="0"/>
        </a:xfrm>
      </p:grpSpPr>
      <p:sp>
        <p:nvSpPr>
          <p:cNvPr id="2" name="Shape 0"/>
          <p:cNvSpPr/>
          <p:nvPr/>
        </p:nvSpPr>
        <p:spPr>
          <a:xfrm>
            <a:off x="7873952" y="0"/>
            <a:ext cx="4317960" cy="6857954"/>
          </a:xfrm>
          <a:prstGeom prst="rect">
            <a:avLst/>
          </a:prstGeom>
          <a:solidFill>
            <a:srgbClr val="E0742B"/>
          </a:solidFill>
          <a:ln/>
        </p:spPr>
      </p:sp>
      <p:sp>
        <p:nvSpPr>
          <p:cNvPr id="3" name="Text 1"/>
          <p:cNvSpPr/>
          <p:nvPr/>
        </p:nvSpPr>
        <p:spPr>
          <a:xfrm>
            <a:off x="812750" y="812750"/>
            <a:ext cx="6802105" cy="772272"/>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E0742B"/>
                </a:solidFill>
                <a:latin typeface="IBM Plex Sans" pitchFamily="34" charset="0"/>
                <a:ea typeface="IBM Plex Sans" pitchFamily="34" charset="-122"/>
                <a:cs typeface="IBM Plex Sans" pitchFamily="34" charset="-120"/>
              </a:rPr>
              <a:t>ZINDI CHALLENGE:</a:t>
            </a:r>
            <a:endParaRPr lang="en-US" sz="1400" dirty="0"/>
          </a:p>
          <a:p>
            <a:pPr algn="l" indent="0" marL="0">
              <a:lnSpc>
                <a:spcPts val="1960"/>
              </a:lnSpc>
              <a:buNone/>
            </a:pPr>
            <a:r>
              <a:rPr lang="en-US" sz="1400" b="1" spc="150" kern="0" dirty="0">
                <a:solidFill>
                  <a:srgbClr val="E0742B"/>
                </a:solidFill>
                <a:latin typeface="IBM Plex Sans" pitchFamily="34" charset="0"/>
                <a:ea typeface="IBM Plex Sans" pitchFamily="34" charset="-122"/>
                <a:cs typeface="IBM Plex Sans" pitchFamily="34" charset="-120"/>
              </a:rPr>
              <a:t>FRAUD DETECTION IN ELECTRICITY AND GAS CONSUMPTION</a:t>
            </a:r>
            <a:endParaRPr lang="en-US" sz="1400" dirty="0"/>
          </a:p>
          <a:p>
            <a:pPr algn="l" indent="0" marL="0">
              <a:lnSpc>
                <a:spcPts val="1960"/>
              </a:lnSpc>
              <a:buNone/>
            </a:pPr>
            <a:r>
              <a:rPr lang="en-US" sz="1400" b="1" spc="150" kern="0" dirty="0">
                <a:solidFill>
                  <a:srgbClr val="E0742B"/>
                </a:solidFill>
                <a:latin typeface="IBM Plex Sans" pitchFamily="34" charset="0"/>
                <a:ea typeface="IBM Plex Sans" pitchFamily="34" charset="-122"/>
                <a:cs typeface="IBM Plex Sans" pitchFamily="34" charset="-120"/>
              </a:rPr>
              <a:t>TUNESIAN COMPANY - S.T.E.G.</a:t>
            </a:r>
            <a:endParaRPr lang="en-US" sz="1400" dirty="0"/>
          </a:p>
        </p:txBody>
      </p:sp>
      <p:sp>
        <p:nvSpPr>
          <p:cNvPr id="4" name="Text 2"/>
          <p:cNvSpPr/>
          <p:nvPr>
            <p:ph type="title"/>
          </p:nvPr>
        </p:nvSpPr>
        <p:spPr>
          <a:xfrm>
            <a:off x="812750" y="2273345"/>
            <a:ext cx="6802105" cy="2463831"/>
          </a:xfrm>
          <a:prstGeom prst="rect">
            <a:avLst/>
          </a:prstGeom>
          <a:noFill/>
          <a:ln/>
        </p:spPr>
        <p:txBody>
          <a:bodyPr wrap="square" lIns="0" tIns="0" rIns="0" bIns="0" rtlCol="0" anchor="t">
            <a:normAutofit/>
          </a:bodyPr>
          <a:lstStyle/>
          <a:p>
            <a:pPr algn="l" indent="0" marL="0">
              <a:lnSpc>
                <a:spcPts val="6400"/>
              </a:lnSpc>
              <a:buNone/>
            </a:pPr>
            <a:r>
              <a:rPr lang="en-US" sz="6400" b="1" i="0" dirty="0">
                <a:solidFill>
                  <a:srgbClr val="F3ECDD"/>
                </a:solidFill>
                <a:latin typeface="Space Grotesk" pitchFamily="34" charset="0"/>
                <a:ea typeface="Space Grotesk" pitchFamily="34" charset="-122"/>
                <a:cs typeface="Space Grotesk" pitchFamily="34" charset="-120"/>
              </a:rPr>
              <a:t>Who should STEG inspect first?</a:t>
            </a:r>
            <a:endParaRPr lang="en-US" sz="6400" dirty="0"/>
          </a:p>
        </p:txBody>
      </p:sp>
      <p:sp>
        <p:nvSpPr>
          <p:cNvPr id="5" name="Text 3"/>
          <p:cNvSpPr/>
          <p:nvPr/>
        </p:nvSpPr>
        <p:spPr>
          <a:xfrm>
            <a:off x="812750" y="5425437"/>
            <a:ext cx="6540454" cy="345428"/>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3ECDD"/>
                </a:solidFill>
                <a:latin typeface="IBM Plex Sans" pitchFamily="34" charset="0"/>
                <a:ea typeface="IBM Plex Sans" pitchFamily="34" charset="-122"/>
                <a:cs typeface="IBM Plex Sans" pitchFamily="34" charset="-120"/>
              </a:rPr>
              <a:t>The Gradient Descenders</a:t>
            </a:r>
            <a:endParaRPr lang="en-US" sz="1800" dirty="0"/>
          </a:p>
        </p:txBody>
      </p:sp>
      <p:sp>
        <p:nvSpPr>
          <p:cNvPr id="6" name="Text 4"/>
          <p:cNvSpPr/>
          <p:nvPr/>
        </p:nvSpPr>
        <p:spPr>
          <a:xfrm>
            <a:off x="812750" y="5796247"/>
            <a:ext cx="6540454" cy="27435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AFD1"/>
                </a:solidFill>
                <a:latin typeface="IBM Plex Sans" pitchFamily="34" charset="0"/>
                <a:ea typeface="IBM Plex Sans" pitchFamily="34" charset="-122"/>
                <a:cs typeface="IBM Plex Sans" pitchFamily="34" charset="-120"/>
              </a:rPr>
              <a:t>Karl · Mohamed · Hadi · Luca</a:t>
            </a:r>
            <a:endParaRPr lang="en-US" sz="1400" dirty="0"/>
          </a:p>
        </p:txBody>
      </p:sp>
      <p:sp>
        <p:nvSpPr>
          <p:cNvPr id="7" name="Text 5"/>
          <p:cNvSpPr/>
          <p:nvPr/>
        </p:nvSpPr>
        <p:spPr>
          <a:xfrm>
            <a:off x="8381951" y="1845353"/>
            <a:ext cx="3662672" cy="1295427"/>
          </a:xfrm>
          <a:prstGeom prst="rect">
            <a:avLst/>
          </a:prstGeom>
          <a:noFill/>
          <a:ln/>
        </p:spPr>
        <p:txBody>
          <a:bodyPr wrap="square" lIns="0" tIns="0" rIns="0" bIns="0" rtlCol="0" anchor="t">
            <a:normAutofit/>
          </a:bodyPr>
          <a:lstStyle/>
          <a:p>
            <a:pPr algn="l" indent="0" marL="0">
              <a:lnSpc>
                <a:spcPts val="10000"/>
              </a:lnSpc>
              <a:buNone/>
            </a:pPr>
            <a:r>
              <a:rPr lang="en-US" sz="10000" b="1" dirty="0">
                <a:solidFill>
                  <a:srgbClr val="1F2B6C"/>
                </a:solidFill>
                <a:latin typeface="Space Grotesk" pitchFamily="34" charset="0"/>
                <a:ea typeface="Space Grotesk" pitchFamily="34" charset="-122"/>
                <a:cs typeface="Space Grotesk" pitchFamily="34" charset="-120"/>
              </a:rPr>
              <a:t>5.6 %</a:t>
            </a:r>
            <a:endParaRPr lang="en-US" sz="10000" dirty="0"/>
          </a:p>
        </p:txBody>
      </p:sp>
      <p:sp>
        <p:nvSpPr>
          <p:cNvPr id="8" name="Text 6"/>
          <p:cNvSpPr/>
          <p:nvPr/>
        </p:nvSpPr>
        <p:spPr>
          <a:xfrm>
            <a:off x="8381951" y="3301962"/>
            <a:ext cx="3139433" cy="619686"/>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F2B6C"/>
                </a:solidFill>
                <a:latin typeface="IBM Plex Sans" pitchFamily="34" charset="0"/>
                <a:ea typeface="IBM Plex Sans" pitchFamily="34" charset="-122"/>
                <a:cs typeface="IBM Plex Sans" pitchFamily="34" charset="-120"/>
              </a:rPr>
              <a:t>of STEG’s customers cheat their meter.</a:t>
            </a:r>
            <a:endParaRPr lang="en-US" sz="1800" dirty="0"/>
          </a:p>
        </p:txBody>
      </p:sp>
      <p:sp>
        <p:nvSpPr>
          <p:cNvPr id="9" name="Shape 7"/>
          <p:cNvSpPr/>
          <p:nvPr/>
        </p:nvSpPr>
        <p:spPr>
          <a:xfrm>
            <a:off x="8381951" y="4149719"/>
            <a:ext cx="3047993" cy="0"/>
          </a:xfrm>
          <a:prstGeom prst="line">
            <a:avLst/>
          </a:prstGeom>
          <a:noFill/>
          <a:ln w="19050">
            <a:solidFill>
              <a:srgbClr val="1F2B6C"/>
            </a:solidFill>
            <a:prstDash val="solid"/>
          </a:ln>
        </p:spPr>
      </p:sp>
      <p:sp>
        <p:nvSpPr>
          <p:cNvPr id="10" name="Text 8"/>
          <p:cNvSpPr/>
          <p:nvPr/>
        </p:nvSpPr>
        <p:spPr>
          <a:xfrm>
            <a:off x="8381951" y="4282652"/>
            <a:ext cx="3139433" cy="635007"/>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2B6C"/>
                </a:solidFill>
                <a:latin typeface="Space Grotesk" pitchFamily="34" charset="0"/>
                <a:ea typeface="Space Grotesk" pitchFamily="34" charset="-122"/>
                <a:cs typeface="Space Grotesk" pitchFamily="34" charset="-120"/>
              </a:rPr>
              <a:t>≈ 7,500 of 135,000 –</a:t>
            </a:r>
            <a:endParaRPr lang="en-US" sz="2000" dirty="0"/>
          </a:p>
          <a:p>
            <a:pPr algn="l" indent="0" marL="0">
              <a:lnSpc>
                <a:spcPts val="2400"/>
              </a:lnSpc>
              <a:buNone/>
            </a:pPr>
            <a:r>
              <a:rPr lang="en-US" sz="2000" b="1" dirty="0">
                <a:solidFill>
                  <a:srgbClr val="1F2B6C"/>
                </a:solidFill>
                <a:latin typeface="Space Grotesk" pitchFamily="34" charset="0"/>
                <a:ea typeface="Space Grotesk" pitchFamily="34" charset="-122"/>
                <a:cs typeface="Space Grotesk" pitchFamily="34" charset="-120"/>
              </a:rPr>
              <a:t>about 1 in 18 customer</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CDD"/>
        </a:solidFill>
      </p:bgPr>
    </p:bg>
    <p:spTree>
      <p:nvGrpSpPr>
        <p:cNvPr id="1" name=""/>
        <p:cNvGrpSpPr/>
        <p:nvPr/>
      </p:nvGrpSpPr>
      <p:grpSpPr>
        <a:xfrm>
          <a:off x="0" y="0"/>
          <a:ext cx="0" cy="0"/>
          <a:chOff x="0" y="0"/>
          <a:chExt cx="0" cy="0"/>
        </a:xfrm>
      </p:grpSpPr>
      <p:sp>
        <p:nvSpPr>
          <p:cNvPr id="2" name="Text 0"/>
          <p:cNvSpPr/>
          <p:nvPr/>
        </p:nvSpPr>
        <p:spPr>
          <a:xfrm>
            <a:off x="812750" y="812750"/>
            <a:ext cx="10883467" cy="269768"/>
          </a:xfrm>
          <a:prstGeom prst="rect">
            <a:avLst/>
          </a:prstGeom>
          <a:noFill/>
          <a:ln/>
        </p:spPr>
        <p:txBody>
          <a:bodyPr wrap="square" lIns="0" tIns="0" rIns="0" bIns="0" rtlCol="0" anchor="t">
            <a:normAutofit/>
          </a:bodyPr>
          <a:lstStyle/>
          <a:p>
            <a:pPr algn="l" indent="0" marL="0">
              <a:lnSpc>
                <a:spcPts val="1923"/>
              </a:lnSpc>
              <a:buNone/>
            </a:pPr>
            <a:r>
              <a:rPr lang="en-US" sz="1374" b="1" spc="150" kern="0" dirty="0">
                <a:solidFill>
                  <a:srgbClr val="E0742B"/>
                </a:solidFill>
                <a:latin typeface="IBM Plex Sans" pitchFamily="34" charset="0"/>
                <a:ea typeface="IBM Plex Sans" pitchFamily="34" charset="-122"/>
                <a:cs typeface="IBM Plex Sans" pitchFamily="34" charset="-120"/>
              </a:rPr>
              <a:t>10 MINUTES · 5 PARTS</a:t>
            </a:r>
            <a:endParaRPr lang="en-US" sz="1374" dirty="0"/>
          </a:p>
        </p:txBody>
      </p:sp>
      <p:sp>
        <p:nvSpPr>
          <p:cNvPr id="3" name="Shape 1"/>
          <p:cNvSpPr/>
          <p:nvPr/>
        </p:nvSpPr>
        <p:spPr>
          <a:xfrm>
            <a:off x="812750" y="1371395"/>
            <a:ext cx="10566473" cy="0"/>
          </a:xfrm>
          <a:prstGeom prst="line">
            <a:avLst/>
          </a:prstGeom>
          <a:noFill/>
          <a:ln w="19050">
            <a:solidFill>
              <a:srgbClr val="1F2B6C"/>
            </a:solidFill>
            <a:prstDash val="solid"/>
          </a:ln>
        </p:spPr>
      </p:sp>
      <p:sp>
        <p:nvSpPr>
          <p:cNvPr id="4" name="Text 2"/>
          <p:cNvSpPr/>
          <p:nvPr/>
        </p:nvSpPr>
        <p:spPr>
          <a:xfrm>
            <a:off x="812750" y="1504312"/>
            <a:ext cx="939753" cy="665456"/>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E0742B"/>
                </a:solidFill>
                <a:latin typeface="Space Grotesk" pitchFamily="34" charset="0"/>
                <a:ea typeface="Space Grotesk" pitchFamily="34" charset="-122"/>
                <a:cs typeface="Space Grotesk" pitchFamily="34" charset="-120"/>
              </a:rPr>
              <a:t>01</a:t>
            </a:r>
            <a:endParaRPr lang="en-US" sz="3600" dirty="0"/>
          </a:p>
        </p:txBody>
      </p:sp>
      <p:sp>
        <p:nvSpPr>
          <p:cNvPr id="5" name="Text 3"/>
          <p:cNvSpPr/>
          <p:nvPr/>
        </p:nvSpPr>
        <p:spPr>
          <a:xfrm>
            <a:off x="2006453" y="1608653"/>
            <a:ext cx="2559329" cy="52319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F2B6C"/>
                </a:solidFill>
                <a:latin typeface="Space Grotesk" pitchFamily="34" charset="0"/>
                <a:ea typeface="Space Grotesk" pitchFamily="34" charset="-122"/>
                <a:cs typeface="Space Grotesk" pitchFamily="34" charset="-120"/>
              </a:rPr>
              <a:t>The problem</a:t>
            </a:r>
            <a:endParaRPr lang="en-US" sz="2800" dirty="0"/>
          </a:p>
        </p:txBody>
      </p:sp>
      <p:sp>
        <p:nvSpPr>
          <p:cNvPr id="6" name="Shape 4"/>
          <p:cNvSpPr/>
          <p:nvPr/>
        </p:nvSpPr>
        <p:spPr>
          <a:xfrm>
            <a:off x="812750" y="2264332"/>
            <a:ext cx="10566473" cy="0"/>
          </a:xfrm>
          <a:prstGeom prst="line">
            <a:avLst/>
          </a:prstGeom>
          <a:noFill/>
          <a:ln w="19050">
            <a:solidFill>
              <a:srgbClr val="1F2B6C"/>
            </a:solidFill>
            <a:prstDash val="solid"/>
          </a:ln>
        </p:spPr>
      </p:sp>
      <p:sp>
        <p:nvSpPr>
          <p:cNvPr id="7" name="Text 5"/>
          <p:cNvSpPr/>
          <p:nvPr/>
        </p:nvSpPr>
        <p:spPr>
          <a:xfrm>
            <a:off x="812750" y="2397250"/>
            <a:ext cx="939753" cy="665456"/>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E0742B"/>
                </a:solidFill>
                <a:latin typeface="Space Grotesk" pitchFamily="34" charset="0"/>
                <a:ea typeface="Space Grotesk" pitchFamily="34" charset="-122"/>
                <a:cs typeface="Space Grotesk" pitchFamily="34" charset="-120"/>
              </a:rPr>
              <a:t>02</a:t>
            </a:r>
            <a:endParaRPr lang="en-US" sz="3600" dirty="0"/>
          </a:p>
        </p:txBody>
      </p:sp>
      <p:sp>
        <p:nvSpPr>
          <p:cNvPr id="8" name="Text 6"/>
          <p:cNvSpPr/>
          <p:nvPr/>
        </p:nvSpPr>
        <p:spPr>
          <a:xfrm>
            <a:off x="2006453" y="2501591"/>
            <a:ext cx="4021554" cy="52319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F2B6C"/>
                </a:solidFill>
                <a:latin typeface="Space Grotesk" pitchFamily="34" charset="0"/>
                <a:ea typeface="Space Grotesk" pitchFamily="34" charset="-122"/>
                <a:cs typeface="Space Grotesk" pitchFamily="34" charset="-120"/>
              </a:rPr>
              <a:t>The data from STEG</a:t>
            </a:r>
            <a:endParaRPr lang="en-US" sz="2800" dirty="0"/>
          </a:p>
        </p:txBody>
      </p:sp>
      <p:sp>
        <p:nvSpPr>
          <p:cNvPr id="9" name="Shape 7"/>
          <p:cNvSpPr/>
          <p:nvPr/>
        </p:nvSpPr>
        <p:spPr>
          <a:xfrm>
            <a:off x="812750" y="3157210"/>
            <a:ext cx="10566473" cy="0"/>
          </a:xfrm>
          <a:prstGeom prst="line">
            <a:avLst/>
          </a:prstGeom>
          <a:noFill/>
          <a:ln w="19050">
            <a:solidFill>
              <a:srgbClr val="1F2B6C"/>
            </a:solidFill>
            <a:prstDash val="solid"/>
          </a:ln>
        </p:spPr>
      </p:sp>
      <p:sp>
        <p:nvSpPr>
          <p:cNvPr id="10" name="Text 8"/>
          <p:cNvSpPr/>
          <p:nvPr/>
        </p:nvSpPr>
        <p:spPr>
          <a:xfrm>
            <a:off x="812750" y="3290128"/>
            <a:ext cx="939753" cy="665456"/>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E0742B"/>
                </a:solidFill>
                <a:latin typeface="Space Grotesk" pitchFamily="34" charset="0"/>
                <a:ea typeface="Space Grotesk" pitchFamily="34" charset="-122"/>
                <a:cs typeface="Space Grotesk" pitchFamily="34" charset="-120"/>
              </a:rPr>
              <a:t>03</a:t>
            </a:r>
            <a:endParaRPr lang="en-US" sz="3600" dirty="0"/>
          </a:p>
        </p:txBody>
      </p:sp>
      <p:sp>
        <p:nvSpPr>
          <p:cNvPr id="11" name="Text 9"/>
          <p:cNvSpPr/>
          <p:nvPr/>
        </p:nvSpPr>
        <p:spPr>
          <a:xfrm>
            <a:off x="2006453" y="3394469"/>
            <a:ext cx="5182132" cy="52319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F2B6C"/>
                </a:solidFill>
                <a:latin typeface="Space Grotesk" pitchFamily="34" charset="0"/>
                <a:ea typeface="Space Grotesk" pitchFamily="34" charset="-122"/>
                <a:cs typeface="Space Grotesk" pitchFamily="34" charset="-120"/>
              </a:rPr>
              <a:t>The "leak" that fooled us</a:t>
            </a:r>
            <a:endParaRPr lang="en-US" sz="2800" dirty="0"/>
          </a:p>
        </p:txBody>
      </p:sp>
      <p:sp>
        <p:nvSpPr>
          <p:cNvPr id="12" name="Shape 10"/>
          <p:cNvSpPr/>
          <p:nvPr/>
        </p:nvSpPr>
        <p:spPr>
          <a:xfrm>
            <a:off x="812750" y="4050148"/>
            <a:ext cx="10566473" cy="0"/>
          </a:xfrm>
          <a:prstGeom prst="line">
            <a:avLst/>
          </a:prstGeom>
          <a:noFill/>
          <a:ln w="19050">
            <a:solidFill>
              <a:srgbClr val="1F2B6C"/>
            </a:solidFill>
            <a:prstDash val="solid"/>
          </a:ln>
        </p:spPr>
      </p:sp>
      <p:sp>
        <p:nvSpPr>
          <p:cNvPr id="13" name="Text 11"/>
          <p:cNvSpPr/>
          <p:nvPr/>
        </p:nvSpPr>
        <p:spPr>
          <a:xfrm>
            <a:off x="812750" y="4183066"/>
            <a:ext cx="939753" cy="665456"/>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E0742B"/>
                </a:solidFill>
                <a:latin typeface="Space Grotesk" pitchFamily="34" charset="0"/>
                <a:ea typeface="Space Grotesk" pitchFamily="34" charset="-122"/>
                <a:cs typeface="Space Grotesk" pitchFamily="34" charset="-120"/>
              </a:rPr>
              <a:t>04</a:t>
            </a:r>
            <a:endParaRPr lang="en-US" sz="3600" dirty="0"/>
          </a:p>
        </p:txBody>
      </p:sp>
      <p:sp>
        <p:nvSpPr>
          <p:cNvPr id="14" name="Text 12"/>
          <p:cNvSpPr/>
          <p:nvPr/>
        </p:nvSpPr>
        <p:spPr>
          <a:xfrm>
            <a:off x="2006453" y="4287407"/>
            <a:ext cx="5861001" cy="52319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F2B6C"/>
                </a:solidFill>
                <a:latin typeface="Space Grotesk" pitchFamily="34" charset="0"/>
                <a:ea typeface="Space Grotesk" pitchFamily="34" charset="-122"/>
                <a:cs typeface="Space Grotesk" pitchFamily="34" charset="-120"/>
              </a:rPr>
              <a:t>Baseline &amp; our better models</a:t>
            </a:r>
            <a:endParaRPr lang="en-US" sz="2800" dirty="0"/>
          </a:p>
        </p:txBody>
      </p:sp>
      <p:sp>
        <p:nvSpPr>
          <p:cNvPr id="15" name="Shape 13"/>
          <p:cNvSpPr/>
          <p:nvPr/>
        </p:nvSpPr>
        <p:spPr>
          <a:xfrm>
            <a:off x="812750" y="4943086"/>
            <a:ext cx="10566473" cy="0"/>
          </a:xfrm>
          <a:prstGeom prst="line">
            <a:avLst/>
          </a:prstGeom>
          <a:noFill/>
          <a:ln w="19050">
            <a:solidFill>
              <a:srgbClr val="1F2B6C"/>
            </a:solidFill>
            <a:prstDash val="solid"/>
          </a:ln>
        </p:spPr>
      </p:sp>
      <p:sp>
        <p:nvSpPr>
          <p:cNvPr id="16" name="Shape 14"/>
          <p:cNvSpPr/>
          <p:nvPr/>
        </p:nvSpPr>
        <p:spPr>
          <a:xfrm>
            <a:off x="812750" y="5832432"/>
            <a:ext cx="10566473" cy="0"/>
          </a:xfrm>
          <a:prstGeom prst="line">
            <a:avLst/>
          </a:prstGeom>
          <a:noFill/>
          <a:ln w="19050">
            <a:solidFill>
              <a:srgbClr val="1F2B6C"/>
            </a:solidFill>
            <a:prstDash val="solid"/>
          </a:ln>
        </p:spPr>
      </p:sp>
      <p:sp>
        <p:nvSpPr>
          <p:cNvPr id="17" name="Text 15"/>
          <p:cNvSpPr/>
          <p:nvPr/>
        </p:nvSpPr>
        <p:spPr>
          <a:xfrm>
            <a:off x="812750" y="5076003"/>
            <a:ext cx="939753" cy="665456"/>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E0742B"/>
                </a:solidFill>
                <a:latin typeface="Space Grotesk" pitchFamily="34" charset="0"/>
                <a:ea typeface="Space Grotesk" pitchFamily="34" charset="-122"/>
                <a:cs typeface="Space Grotesk" pitchFamily="34" charset="-120"/>
              </a:rPr>
              <a:t>05</a:t>
            </a:r>
            <a:endParaRPr lang="en-US" sz="3600" dirty="0"/>
          </a:p>
        </p:txBody>
      </p:sp>
      <p:sp>
        <p:nvSpPr>
          <p:cNvPr id="18" name="Text 16"/>
          <p:cNvSpPr/>
          <p:nvPr/>
        </p:nvSpPr>
        <p:spPr>
          <a:xfrm>
            <a:off x="2006453" y="5180344"/>
            <a:ext cx="4785346" cy="52319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F2B6C"/>
                </a:solidFill>
                <a:latin typeface="Space Grotesk" pitchFamily="34" charset="0"/>
                <a:ea typeface="Space Grotesk" pitchFamily="34" charset="-122"/>
                <a:cs typeface="Space Grotesk" pitchFamily="34" charset="-120"/>
              </a:rPr>
              <a:t>What it means for STEG</a:t>
            </a:r>
            <a:endParaRPr lang="en-US" sz="2800" dirty="0"/>
          </a:p>
        </p:txBody>
      </p:sp>
      <p:sp>
        <p:nvSpPr>
          <p:cNvPr id="19" name="Text 17"/>
          <p:cNvSpPr/>
          <p:nvPr/>
        </p:nvSpPr>
        <p:spPr>
          <a:xfrm>
            <a:off x="812750" y="6238248"/>
            <a:ext cx="10883342"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5"/>
                </a:solidFill>
                <a:latin typeface="IBM Plex Sans" pitchFamily="34" charset="0"/>
                <a:ea typeface="IBM Plex Sans" pitchFamily="34" charset="-122"/>
                <a:cs typeface="IBM Plex Sans" pitchFamily="34" charset="-120"/>
              </a:rPr>
              <a:t>The Gradient Descenders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7EE"/>
        </a:solidFill>
      </p:bgPr>
    </p:bg>
    <p:spTree>
      <p:nvGrpSpPr>
        <p:cNvPr id="1" name=""/>
        <p:cNvGrpSpPr/>
        <p:nvPr/>
      </p:nvGrpSpPr>
      <p:grpSpPr>
        <a:xfrm>
          <a:off x="0" y="0"/>
          <a:ext cx="0" cy="0"/>
          <a:chOff x="0" y="0"/>
          <a:chExt cx="0" cy="0"/>
        </a:xfrm>
      </p:grpSpPr>
      <p:sp>
        <p:nvSpPr>
          <p:cNvPr id="2" name="Text 0"/>
          <p:cNvSpPr/>
          <p:nvPr/>
        </p:nvSpPr>
        <p:spPr>
          <a:xfrm>
            <a:off x="812750" y="812750"/>
            <a:ext cx="10883467" cy="27435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E0742B"/>
                </a:solidFill>
                <a:latin typeface="IBM Plex Sans" pitchFamily="34" charset="0"/>
                <a:ea typeface="IBM Plex Sans" pitchFamily="34" charset="-122"/>
                <a:cs typeface="IBM Plex Sans" pitchFamily="34" charset="-120"/>
              </a:rPr>
              <a:t>01 OF 05 – THE PROBLEM: WHO TO INSPECT FIRST</a:t>
            </a:r>
            <a:endParaRPr lang="en-US" sz="1400" dirty="0"/>
          </a:p>
        </p:txBody>
      </p:sp>
      <p:sp>
        <p:nvSpPr>
          <p:cNvPr id="3" name="Text 1"/>
          <p:cNvSpPr/>
          <p:nvPr>
            <p:ph type="title"/>
          </p:nvPr>
        </p:nvSpPr>
        <p:spPr>
          <a:xfrm>
            <a:off x="812750" y="1417301"/>
            <a:ext cx="10883467" cy="55876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1F2B6C"/>
                </a:solidFill>
                <a:latin typeface="Space Grotesk" pitchFamily="34" charset="0"/>
                <a:ea typeface="Space Grotesk" pitchFamily="34" charset="-122"/>
                <a:cs typeface="Space Grotesk" pitchFamily="34" charset="-120"/>
              </a:rPr>
              <a:t>Too many customers, too few inspectors.</a:t>
            </a:r>
            <a:endParaRPr lang="en-US" sz="4000" dirty="0"/>
          </a:p>
        </p:txBody>
      </p:sp>
      <p:sp>
        <p:nvSpPr>
          <p:cNvPr id="4" name="Shape 2"/>
          <p:cNvSpPr/>
          <p:nvPr/>
        </p:nvSpPr>
        <p:spPr>
          <a:xfrm>
            <a:off x="812750" y="2306253"/>
            <a:ext cx="3048114" cy="2971005"/>
          </a:xfrm>
          <a:prstGeom prst="rect">
            <a:avLst/>
          </a:prstGeom>
          <a:solidFill>
            <a:srgbClr val="F3ECDD"/>
          </a:solidFill>
          <a:ln/>
        </p:spPr>
      </p:sp>
      <p:sp>
        <p:nvSpPr>
          <p:cNvPr id="5" name="Shape 3"/>
          <p:cNvSpPr/>
          <p:nvPr/>
        </p:nvSpPr>
        <p:spPr>
          <a:xfrm>
            <a:off x="812750" y="2325303"/>
            <a:ext cx="3048114" cy="0"/>
          </a:xfrm>
          <a:prstGeom prst="line">
            <a:avLst/>
          </a:prstGeom>
          <a:noFill/>
          <a:ln w="38100">
            <a:solidFill>
              <a:srgbClr val="1F2B6C"/>
            </a:solidFill>
            <a:prstDash val="solid"/>
          </a:ln>
        </p:spPr>
      </p:sp>
      <p:sp>
        <p:nvSpPr>
          <p:cNvPr id="6" name="Text 4"/>
          <p:cNvSpPr/>
          <p:nvPr/>
        </p:nvSpPr>
        <p:spPr>
          <a:xfrm>
            <a:off x="1066719" y="2544221"/>
            <a:ext cx="303380" cy="584181"/>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E0742B"/>
                </a:solidFill>
                <a:latin typeface="Space Grotesk" pitchFamily="34" charset="0"/>
                <a:ea typeface="Space Grotesk" pitchFamily="34" charset="-122"/>
                <a:cs typeface="Space Grotesk" pitchFamily="34" charset="-120"/>
              </a:rPr>
              <a:t>1</a:t>
            </a:r>
            <a:endParaRPr lang="en-US" sz="4400" dirty="0"/>
          </a:p>
        </p:txBody>
      </p:sp>
      <p:pic>
        <p:nvPicPr>
          <p:cNvPr id="7" name="Image 0" descr="Warning">    </p:cNvPr>
          <p:cNvPicPr>
            <a:picLocks noChangeAspect="1"/>
          </p:cNvPicPr>
          <p:nvPr/>
        </p:nvPicPr>
        <p:blipFill>
          <a:blip r:embed="rId1"/>
          <a:srcRect l="0" r="0" t="0" b="0"/>
          <a:stretch/>
        </p:blipFill>
        <p:spPr>
          <a:xfrm>
            <a:off x="3149738" y="2595003"/>
            <a:ext cx="457157" cy="457157"/>
          </a:xfrm>
          <a:prstGeom prst="rect">
            <a:avLst/>
          </a:prstGeom>
        </p:spPr>
      </p:pic>
      <p:sp>
        <p:nvSpPr>
          <p:cNvPr id="8" name="Text 5"/>
          <p:cNvSpPr/>
          <p:nvPr/>
        </p:nvSpPr>
        <p:spPr>
          <a:xfrm>
            <a:off x="1066719" y="3229987"/>
            <a:ext cx="2616381" cy="695888"/>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1F2B6C"/>
                </a:solidFill>
                <a:latin typeface="Space Grotesk" pitchFamily="34" charset="0"/>
                <a:ea typeface="Space Grotesk" pitchFamily="34" charset="-122"/>
                <a:cs typeface="Space Grotesk" pitchFamily="34" charset="-120"/>
              </a:rPr>
              <a:t>Meters get manipulated.</a:t>
            </a:r>
            <a:endParaRPr lang="en-US" sz="2400" dirty="0"/>
          </a:p>
        </p:txBody>
      </p:sp>
      <p:sp>
        <p:nvSpPr>
          <p:cNvPr id="9" name="Text 6"/>
          <p:cNvSpPr/>
          <p:nvPr/>
        </p:nvSpPr>
        <p:spPr>
          <a:xfrm>
            <a:off x="1066719" y="4027460"/>
            <a:ext cx="2616381" cy="102123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3F5C"/>
                </a:solidFill>
                <a:latin typeface="IBM Plex Sans" pitchFamily="34" charset="0"/>
                <a:ea typeface="IBM Plex Sans" pitchFamily="34" charset="-122"/>
                <a:cs typeface="IBM Plex Sans" pitchFamily="34" charset="-120"/>
              </a:rPr>
              <a:t>Some customers make their meter show less than they use – </a:t>
            </a:r>
            <a:r>
              <a:rPr lang="en-US" sz="1400" b="1" dirty="0">
                <a:solidFill>
                  <a:srgbClr val="3A3F5C"/>
                </a:solidFill>
                <a:latin typeface="IBM Plex Sans" pitchFamily="34" charset="0"/>
                <a:ea typeface="IBM Plex Sans" pitchFamily="34" charset="-122"/>
                <a:cs typeface="IBM Plex Sans" pitchFamily="34" charset="-120"/>
              </a:rPr>
              <a:t>5.6 %</a:t>
            </a:r>
            <a:r>
              <a:rPr lang="en-US" sz="1400" dirty="0">
                <a:solidFill>
                  <a:srgbClr val="3A3F5C"/>
                </a:solidFill>
                <a:latin typeface="IBM Plex Sans" pitchFamily="34" charset="0"/>
                <a:ea typeface="IBM Plex Sans" pitchFamily="34" charset="-122"/>
                <a:cs typeface="IBM Plex Sans" pitchFamily="34" charset="-120"/>
              </a:rPr>
              <a:t> of STEG’s customers. STEG loses revenue.</a:t>
            </a:r>
            <a:endParaRPr lang="en-US" sz="1400" dirty="0"/>
          </a:p>
        </p:txBody>
      </p:sp>
      <p:pic>
        <p:nvPicPr>
          <p:cNvPr id="10" name="Image 1" descr="arrow-right">    </p:cNvPr>
          <p:cNvPicPr>
            <a:picLocks noChangeAspect="1"/>
          </p:cNvPicPr>
          <p:nvPr/>
        </p:nvPicPr>
        <p:blipFill>
          <a:blip r:embed="rId2"/>
          <a:srcRect l="0" r="0" t="0" b="0"/>
          <a:stretch/>
        </p:blipFill>
        <p:spPr>
          <a:xfrm>
            <a:off x="4013209" y="3690162"/>
            <a:ext cx="406375" cy="203187"/>
          </a:xfrm>
          <a:prstGeom prst="rect">
            <a:avLst/>
          </a:prstGeom>
        </p:spPr>
      </p:pic>
      <p:sp>
        <p:nvSpPr>
          <p:cNvPr id="11" name="Shape 7"/>
          <p:cNvSpPr/>
          <p:nvPr/>
        </p:nvSpPr>
        <p:spPr>
          <a:xfrm>
            <a:off x="4571929" y="2306253"/>
            <a:ext cx="3048114" cy="2971005"/>
          </a:xfrm>
          <a:prstGeom prst="rect">
            <a:avLst/>
          </a:prstGeom>
          <a:solidFill>
            <a:srgbClr val="F3ECDD"/>
          </a:solidFill>
          <a:ln/>
        </p:spPr>
      </p:sp>
      <p:sp>
        <p:nvSpPr>
          <p:cNvPr id="12" name="Shape 8"/>
          <p:cNvSpPr/>
          <p:nvPr/>
        </p:nvSpPr>
        <p:spPr>
          <a:xfrm>
            <a:off x="4571929" y="2325303"/>
            <a:ext cx="3048114" cy="0"/>
          </a:xfrm>
          <a:prstGeom prst="line">
            <a:avLst/>
          </a:prstGeom>
          <a:noFill/>
          <a:ln w="38100">
            <a:solidFill>
              <a:srgbClr val="1F2B6C"/>
            </a:solidFill>
            <a:prstDash val="solid"/>
          </a:ln>
        </p:spPr>
      </p:sp>
      <p:sp>
        <p:nvSpPr>
          <p:cNvPr id="13" name="Text 9"/>
          <p:cNvSpPr/>
          <p:nvPr/>
        </p:nvSpPr>
        <p:spPr>
          <a:xfrm>
            <a:off x="4825898" y="2544221"/>
            <a:ext cx="398308" cy="584181"/>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6B6E85"/>
                </a:solidFill>
                <a:latin typeface="Space Grotesk" pitchFamily="34" charset="0"/>
                <a:ea typeface="Space Grotesk" pitchFamily="34" charset="-122"/>
                <a:cs typeface="Space Grotesk" pitchFamily="34" charset="-120"/>
              </a:rPr>
              <a:t>2</a:t>
            </a:r>
            <a:endParaRPr lang="en-US" sz="4400" dirty="0"/>
          </a:p>
        </p:txBody>
      </p:sp>
      <p:pic>
        <p:nvPicPr>
          <p:cNvPr id="14" name="Image 2" descr="Users">    </p:cNvPr>
          <p:cNvPicPr>
            <a:picLocks noChangeAspect="1"/>
          </p:cNvPicPr>
          <p:nvPr/>
        </p:nvPicPr>
        <p:blipFill>
          <a:blip r:embed="rId3"/>
          <a:srcRect l="0" r="0" t="0" b="0"/>
          <a:stretch/>
        </p:blipFill>
        <p:spPr>
          <a:xfrm>
            <a:off x="6908917" y="2595003"/>
            <a:ext cx="457157" cy="457157"/>
          </a:xfrm>
          <a:prstGeom prst="rect">
            <a:avLst/>
          </a:prstGeom>
        </p:spPr>
      </p:pic>
      <p:sp>
        <p:nvSpPr>
          <p:cNvPr id="15" name="Text 10"/>
          <p:cNvSpPr/>
          <p:nvPr/>
        </p:nvSpPr>
        <p:spPr>
          <a:xfrm>
            <a:off x="4825898" y="3229987"/>
            <a:ext cx="2616381" cy="695888"/>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1F2B6C"/>
                </a:solidFill>
                <a:latin typeface="Space Grotesk" pitchFamily="34" charset="0"/>
                <a:ea typeface="Space Grotesk" pitchFamily="34" charset="-122"/>
                <a:cs typeface="Space Grotesk" pitchFamily="34" charset="-120"/>
              </a:rPr>
              <a:t>Inspections are expensive.</a:t>
            </a:r>
            <a:endParaRPr lang="en-US" sz="2400" dirty="0"/>
          </a:p>
        </p:txBody>
      </p:sp>
      <p:sp>
        <p:nvSpPr>
          <p:cNvPr id="16" name="Text 11"/>
          <p:cNvSpPr/>
          <p:nvPr/>
        </p:nvSpPr>
        <p:spPr>
          <a:xfrm>
            <a:off x="4825898" y="4027460"/>
            <a:ext cx="2616381" cy="77227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3F5C"/>
                </a:solidFill>
                <a:latin typeface="IBM Plex Sans" pitchFamily="34" charset="0"/>
                <a:ea typeface="IBM Plex Sans" pitchFamily="34" charset="-122"/>
                <a:cs typeface="IBM Plex Sans" pitchFamily="34" charset="-120"/>
              </a:rPr>
              <a:t>Every visit on site costs time and money. STEG </a:t>
            </a:r>
            <a:r>
              <a:rPr lang="en-US" sz="1400" b="1" dirty="0">
                <a:solidFill>
                  <a:srgbClr val="3A3F5C"/>
                </a:solidFill>
                <a:latin typeface="IBM Plex Sans" pitchFamily="34" charset="0"/>
                <a:ea typeface="IBM Plex Sans" pitchFamily="34" charset="-122"/>
                <a:cs typeface="IBM Plex Sans" pitchFamily="34" charset="-120"/>
              </a:rPr>
              <a:t>cannot check every customer</a:t>
            </a:r>
            <a:r>
              <a:rPr lang="en-US" sz="1400" dirty="0">
                <a:solidFill>
                  <a:srgbClr val="3A3F5C"/>
                </a:solidFill>
                <a:latin typeface="IBM Plex Sans" pitchFamily="34" charset="0"/>
                <a:ea typeface="IBM Plex Sans" pitchFamily="34" charset="-122"/>
                <a:cs typeface="IBM Plex Sans" pitchFamily="34" charset="-120"/>
              </a:rPr>
              <a:t>.</a:t>
            </a:r>
            <a:endParaRPr lang="en-US" sz="1400" dirty="0"/>
          </a:p>
        </p:txBody>
      </p:sp>
      <p:pic>
        <p:nvPicPr>
          <p:cNvPr id="17" name="Image 3" descr="arrow-right">    </p:cNvPr>
          <p:cNvPicPr>
            <a:picLocks noChangeAspect="1"/>
          </p:cNvPicPr>
          <p:nvPr/>
        </p:nvPicPr>
        <p:blipFill>
          <a:blip r:embed="rId4"/>
          <a:srcRect l="0" r="0" t="0" b="0"/>
          <a:stretch/>
        </p:blipFill>
        <p:spPr>
          <a:xfrm>
            <a:off x="7772388" y="3690162"/>
            <a:ext cx="406375" cy="203187"/>
          </a:xfrm>
          <a:prstGeom prst="rect">
            <a:avLst/>
          </a:prstGeom>
        </p:spPr>
      </p:pic>
      <p:sp>
        <p:nvSpPr>
          <p:cNvPr id="18" name="Shape 12"/>
          <p:cNvSpPr/>
          <p:nvPr/>
        </p:nvSpPr>
        <p:spPr>
          <a:xfrm>
            <a:off x="8331109" y="2306253"/>
            <a:ext cx="3048114" cy="2971005"/>
          </a:xfrm>
          <a:prstGeom prst="rect">
            <a:avLst/>
          </a:prstGeom>
          <a:solidFill>
            <a:srgbClr val="1F2B6C"/>
          </a:solidFill>
          <a:ln/>
        </p:spPr>
      </p:sp>
      <p:sp>
        <p:nvSpPr>
          <p:cNvPr id="19" name="Shape 13"/>
          <p:cNvSpPr/>
          <p:nvPr/>
        </p:nvSpPr>
        <p:spPr>
          <a:xfrm>
            <a:off x="8331109" y="2325303"/>
            <a:ext cx="3048114" cy="0"/>
          </a:xfrm>
          <a:prstGeom prst="line">
            <a:avLst/>
          </a:prstGeom>
          <a:noFill/>
          <a:ln w="38100">
            <a:solidFill>
              <a:srgbClr val="E0742B"/>
            </a:solidFill>
            <a:prstDash val="solid"/>
          </a:ln>
        </p:spPr>
      </p:sp>
      <p:sp>
        <p:nvSpPr>
          <p:cNvPr id="20" name="Text 14"/>
          <p:cNvSpPr/>
          <p:nvPr/>
        </p:nvSpPr>
        <p:spPr>
          <a:xfrm>
            <a:off x="8585078" y="2544221"/>
            <a:ext cx="407727" cy="584181"/>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E0742B"/>
                </a:solidFill>
                <a:latin typeface="Space Grotesk" pitchFamily="34" charset="0"/>
                <a:ea typeface="Space Grotesk" pitchFamily="34" charset="-122"/>
                <a:cs typeface="Space Grotesk" pitchFamily="34" charset="-120"/>
              </a:rPr>
              <a:t>3</a:t>
            </a:r>
            <a:endParaRPr lang="en-US" sz="4400" dirty="0"/>
          </a:p>
        </p:txBody>
      </p:sp>
      <p:pic>
        <p:nvPicPr>
          <p:cNvPr id="21" name="Image 4" descr="Search">    </p:cNvPr>
          <p:cNvPicPr>
            <a:picLocks noChangeAspect="1"/>
          </p:cNvPicPr>
          <p:nvPr/>
        </p:nvPicPr>
        <p:blipFill>
          <a:blip r:embed="rId5"/>
          <a:srcRect l="0" r="0" t="0" b="0"/>
          <a:stretch/>
        </p:blipFill>
        <p:spPr>
          <a:xfrm>
            <a:off x="10668097" y="2595003"/>
            <a:ext cx="457157" cy="457157"/>
          </a:xfrm>
          <a:prstGeom prst="rect">
            <a:avLst/>
          </a:prstGeom>
        </p:spPr>
      </p:pic>
      <p:sp>
        <p:nvSpPr>
          <p:cNvPr id="22" name="Text 15"/>
          <p:cNvSpPr/>
          <p:nvPr/>
        </p:nvSpPr>
        <p:spPr>
          <a:xfrm>
            <a:off x="8585078" y="3229987"/>
            <a:ext cx="2616381" cy="360644"/>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F3ECDD"/>
                </a:solidFill>
                <a:latin typeface="Space Grotesk" pitchFamily="34" charset="0"/>
                <a:ea typeface="Space Grotesk" pitchFamily="34" charset="-122"/>
                <a:cs typeface="Space Grotesk" pitchFamily="34" charset="-120"/>
              </a:rPr>
              <a:t>So: </a:t>
            </a:r>
            <a:r>
              <a:rPr lang="en-US" sz="2400" b="1" dirty="0">
                <a:solidFill>
                  <a:srgbClr val="E0742B"/>
                </a:solidFill>
                <a:latin typeface="Space Grotesk" pitchFamily="34" charset="0"/>
                <a:ea typeface="Space Grotesk" pitchFamily="34" charset="-122"/>
                <a:cs typeface="Space Grotesk" pitchFamily="34" charset="-120"/>
              </a:rPr>
              <a:t>who first?</a:t>
            </a:r>
            <a:endParaRPr lang="en-US" sz="2400" dirty="0"/>
          </a:p>
        </p:txBody>
      </p:sp>
      <p:sp>
        <p:nvSpPr>
          <p:cNvPr id="23" name="Text 16"/>
          <p:cNvSpPr/>
          <p:nvPr/>
        </p:nvSpPr>
        <p:spPr>
          <a:xfrm>
            <a:off x="8585078" y="3692215"/>
            <a:ext cx="2616381" cy="77227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9D3C4"/>
                </a:solidFill>
                <a:latin typeface="IBM Plex Sans" pitchFamily="34" charset="0"/>
                <a:ea typeface="IBM Plex Sans" pitchFamily="34" charset="-122"/>
                <a:cs typeface="IBM Plex Sans" pitchFamily="34" charset="-120"/>
              </a:rPr>
              <a:t>Every customer gets a fraud risk – STEG gets a </a:t>
            </a:r>
            <a:r>
              <a:rPr lang="en-US" sz="1400" b="1" dirty="0">
                <a:solidFill>
                  <a:srgbClr val="F3ECDD"/>
                </a:solidFill>
                <a:latin typeface="IBM Plex Sans" pitchFamily="34" charset="0"/>
                <a:ea typeface="IBM Plex Sans" pitchFamily="34" charset="-122"/>
                <a:cs typeface="IBM Plex Sans" pitchFamily="34" charset="-120"/>
              </a:rPr>
              <a:t>priority list</a:t>
            </a:r>
            <a:r>
              <a:rPr lang="en-US" sz="1400" dirty="0">
                <a:solidFill>
                  <a:srgbClr val="D9D3C4"/>
                </a:solidFill>
                <a:latin typeface="IBM Plex Sans" pitchFamily="34" charset="0"/>
                <a:ea typeface="IBM Plex Sans" pitchFamily="34" charset="-122"/>
                <a:cs typeface="IBM Plex Sans" pitchFamily="34" charset="-120"/>
              </a:rPr>
              <a:t> and visits the riskiest first.</a:t>
            </a:r>
            <a:endParaRPr lang="en-US" sz="1400" dirty="0"/>
          </a:p>
        </p:txBody>
      </p:sp>
      <p:sp>
        <p:nvSpPr>
          <p:cNvPr id="24" name="Text 17"/>
          <p:cNvSpPr/>
          <p:nvPr/>
        </p:nvSpPr>
        <p:spPr>
          <a:xfrm>
            <a:off x="812750" y="6238249"/>
            <a:ext cx="10883342"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5"/>
                </a:solidFill>
                <a:latin typeface="IBM Plex Sans" pitchFamily="34" charset="0"/>
                <a:ea typeface="IBM Plex Sans" pitchFamily="34" charset="-122"/>
                <a:cs typeface="IBM Plex Sans" pitchFamily="34" charset="-120"/>
              </a:rPr>
              <a:t>The Gradient Descenders · Fraud Detection STEG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ECDD"/>
        </a:solidFill>
      </p:bgPr>
    </p:bg>
    <p:spTree>
      <p:nvGrpSpPr>
        <p:cNvPr id="1" name=""/>
        <p:cNvGrpSpPr/>
        <p:nvPr/>
      </p:nvGrpSpPr>
      <p:grpSpPr>
        <a:xfrm>
          <a:off x="0" y="0"/>
          <a:ext cx="0" cy="0"/>
          <a:chOff x="0" y="0"/>
          <a:chExt cx="0" cy="0"/>
        </a:xfrm>
      </p:grpSpPr>
      <p:pic>
        <p:nvPicPr>
          <p:cNvPr id="2" name="Image 0" descr="Background: a zoomed-out spreadsheet of STEG invoice rows">    </p:cNvPr>
          <p:cNvPicPr>
            <a:picLocks noChangeAspect="1"/>
          </p:cNvPicPr>
          <p:nvPr/>
        </p:nvPicPr>
        <p:blipFill>
          <a:blip r:embed="rId1"/>
          <a:srcRect l="-32" r="-32" t="0" b="0"/>
          <a:stretch/>
        </p:blipFill>
        <p:spPr>
          <a:xfrm>
            <a:off x="425456" y="318790"/>
            <a:ext cx="11341061" cy="6220314"/>
          </a:xfrm>
          <a:prstGeom prst="rect">
            <a:avLst/>
          </a:prstGeom>
        </p:spPr>
      </p:pic>
      <p:sp>
        <p:nvSpPr>
          <p:cNvPr id="3" name="Text 0"/>
          <p:cNvSpPr/>
          <p:nvPr/>
        </p:nvSpPr>
        <p:spPr>
          <a:xfrm>
            <a:off x="812750" y="6238249"/>
            <a:ext cx="10883342"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5"/>
                </a:solidFill>
                <a:latin typeface="IBM Plex Sans" pitchFamily="34" charset="0"/>
                <a:ea typeface="IBM Plex Sans" pitchFamily="34" charset="-122"/>
                <a:cs typeface="IBM Plex Sans" pitchFamily="34" charset="-120"/>
              </a:rPr>
              <a:t>The Gradient Descenders · Fraud Detection STEG · 4</a:t>
            </a:r>
            <a:endParaRPr lang="en-US" sz="1200" dirty="0"/>
          </a:p>
        </p:txBody>
      </p:sp>
      <p:sp>
        <p:nvSpPr>
          <p:cNvPr id="4" name="Text 1"/>
          <p:cNvSpPr/>
          <p:nvPr/>
        </p:nvSpPr>
        <p:spPr>
          <a:xfrm>
            <a:off x="812750" y="812749"/>
            <a:ext cx="10889873" cy="27435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E0742B"/>
                </a:solidFill>
                <a:latin typeface="IBM Plex Sans" pitchFamily="34" charset="0"/>
                <a:ea typeface="IBM Plex Sans" pitchFamily="34" charset="-122"/>
                <a:cs typeface="IBM Plex Sans" pitchFamily="34" charset="-120"/>
              </a:rPr>
              <a:t>02 OF 05 – THE DATA: WHAT STEG GAVE US</a:t>
            </a:r>
            <a:endParaRPr lang="en-US" sz="1400" dirty="0"/>
          </a:p>
        </p:txBody>
      </p:sp>
      <p:sp>
        <p:nvSpPr>
          <p:cNvPr id="5" name="Text 2"/>
          <p:cNvSpPr/>
          <p:nvPr>
            <p:ph type="title"/>
          </p:nvPr>
        </p:nvSpPr>
        <p:spPr>
          <a:xfrm>
            <a:off x="812750" y="1314408"/>
            <a:ext cx="11379250" cy="52832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B6C"/>
                </a:solidFill>
                <a:latin typeface="Space Grotesk" pitchFamily="34" charset="0"/>
                <a:ea typeface="Space Grotesk" pitchFamily="34" charset="-122"/>
                <a:cs typeface="Space Grotesk" pitchFamily="34" charset="-120"/>
              </a:rPr>
              <a:t>135,493 customers · 4.5 M invoices </a:t>
            </a:r>
            <a:r>
              <a:rPr lang="en-US" sz="3600" b="1" i="0" dirty="0">
                <a:solidFill>
                  <a:srgbClr val="6B6E85"/>
                </a:solidFill>
                <a:latin typeface="Space Grotesk" pitchFamily="34" charset="0"/>
                <a:ea typeface="Space Grotesk" pitchFamily="34" charset="-122"/>
                <a:cs typeface="Space Grotesk" pitchFamily="34" charset="-120"/>
              </a:rPr>
              <a:t>(≈ 33 each)</a:t>
            </a:r>
            <a:endParaRPr lang="en-US" sz="3600" dirty="0"/>
          </a:p>
        </p:txBody>
      </p:sp>
      <p:sp>
        <p:nvSpPr>
          <p:cNvPr id="6" name="Text 3"/>
          <p:cNvSpPr/>
          <p:nvPr/>
        </p:nvSpPr>
        <p:spPr>
          <a:xfrm>
            <a:off x="812750" y="4571989"/>
            <a:ext cx="10889873" cy="30986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3F5C"/>
                </a:solidFill>
                <a:latin typeface="IBM Plex Sans" pitchFamily="34" charset="0"/>
                <a:ea typeface="IBM Plex Sans" pitchFamily="34" charset="-122"/>
                <a:cs typeface="IBM Plex Sans" pitchFamily="34" charset="-120"/>
              </a:rPr>
              <a:t>Only </a:t>
            </a:r>
            <a:r>
              <a:rPr lang="en-US" sz="1600" b="1" dirty="0">
                <a:solidFill>
                  <a:srgbClr val="3A3F5C"/>
                </a:solidFill>
                <a:latin typeface="IBM Plex Sans" pitchFamily="34" charset="0"/>
                <a:ea typeface="IBM Plex Sans" pitchFamily="34" charset="-122"/>
                <a:cs typeface="IBM Plex Sans" pitchFamily="34" charset="-120"/>
              </a:rPr>
              <a:t>5.6 %</a:t>
            </a:r>
            <a:r>
              <a:rPr lang="en-US" sz="1600" dirty="0">
                <a:solidFill>
                  <a:srgbClr val="3A3F5C"/>
                </a:solidFill>
                <a:latin typeface="IBM Plex Sans" pitchFamily="34" charset="0"/>
                <a:ea typeface="IBM Plex Sans" pitchFamily="34" charset="-122"/>
                <a:cs typeface="IBM Plex Sans" pitchFamily="34" charset="-120"/>
              </a:rPr>
              <a:t> committed fraud – and </a:t>
            </a:r>
            <a:r>
              <a:rPr lang="en-US" sz="1600" b="1" dirty="0">
                <a:solidFill>
                  <a:srgbClr val="3A3F5C"/>
                </a:solidFill>
                <a:latin typeface="IBM Plex Sans" pitchFamily="34" charset="0"/>
                <a:ea typeface="IBM Plex Sans" pitchFamily="34" charset="-122"/>
                <a:cs typeface="IBM Plex Sans" pitchFamily="34" charset="-120"/>
              </a:rPr>
              <a:t>20 % of customers stay locked away</a:t>
            </a:r>
            <a:r>
              <a:rPr lang="en-US" sz="1600" dirty="0">
                <a:solidFill>
                  <a:srgbClr val="3A3F5C"/>
                </a:solidFill>
                <a:latin typeface="IBM Plex Sans" pitchFamily="34" charset="0"/>
                <a:ea typeface="IBM Plex Sans" pitchFamily="34" charset="-122"/>
                <a:cs typeface="IBM Plex Sans" pitchFamily="34" charset="-120"/>
              </a:rPr>
              <a:t> as our final exam.</a:t>
            </a:r>
            <a:endParaRPr lang="en-US" sz="1600" dirty="0"/>
          </a:p>
        </p:txBody>
      </p:sp>
      <p:sp>
        <p:nvSpPr>
          <p:cNvPr id="7" name="Text 4"/>
          <p:cNvSpPr/>
          <p:nvPr/>
        </p:nvSpPr>
        <p:spPr>
          <a:xfrm>
            <a:off x="812750" y="2152639"/>
            <a:ext cx="2354544" cy="1295427"/>
          </a:xfrm>
          <a:prstGeom prst="rect">
            <a:avLst/>
          </a:prstGeom>
          <a:noFill/>
          <a:ln/>
        </p:spPr>
        <p:txBody>
          <a:bodyPr wrap="square" lIns="0" tIns="0" rIns="0" bIns="0" rtlCol="0" anchor="t">
            <a:normAutofit/>
          </a:bodyPr>
          <a:lstStyle/>
          <a:p>
            <a:pPr algn="l" indent="0" marL="0">
              <a:lnSpc>
                <a:spcPts val="10000"/>
              </a:lnSpc>
              <a:buNone/>
            </a:pPr>
            <a:r>
              <a:rPr lang="en-US" sz="10000" b="1" dirty="0">
                <a:solidFill>
                  <a:srgbClr val="1F2B6C"/>
                </a:solidFill>
                <a:latin typeface="Space Grotesk" pitchFamily="34" charset="0"/>
                <a:ea typeface="Space Grotesk" pitchFamily="34" charset="-122"/>
                <a:cs typeface="Space Grotesk" pitchFamily="34" charset="-120"/>
              </a:rPr>
              <a:t>22</a:t>
            </a:r>
            <a:endParaRPr lang="en-US" sz="10000" dirty="0"/>
          </a:p>
        </p:txBody>
      </p:sp>
      <p:sp>
        <p:nvSpPr>
          <p:cNvPr id="8" name="Text 5"/>
          <p:cNvSpPr/>
          <p:nvPr/>
        </p:nvSpPr>
        <p:spPr>
          <a:xfrm>
            <a:off x="812750" y="3473448"/>
            <a:ext cx="2354544" cy="309862"/>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2B6C"/>
                </a:solidFill>
                <a:latin typeface="IBM Plex Sans" pitchFamily="34" charset="0"/>
                <a:ea typeface="IBM Plex Sans" pitchFamily="34" charset="-122"/>
                <a:cs typeface="IBM Plex Sans" pitchFamily="34" charset="-120"/>
              </a:rPr>
              <a:t>raw columns</a:t>
            </a:r>
            <a:endParaRPr lang="en-US" sz="1600" dirty="0"/>
          </a:p>
        </p:txBody>
      </p:sp>
      <p:sp>
        <p:nvSpPr>
          <p:cNvPr id="9" name="Text 6"/>
          <p:cNvSpPr/>
          <p:nvPr/>
        </p:nvSpPr>
        <p:spPr>
          <a:xfrm>
            <a:off x="812750" y="3808693"/>
            <a:ext cx="2354544" cy="45206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5"/>
                </a:solidFill>
                <a:latin typeface="IBM Plex Sans" pitchFamily="34" charset="0"/>
                <a:ea typeface="IBM Plex Sans" pitchFamily="34" charset="-122"/>
                <a:cs typeface="IBM Plex Sans" pitchFamily="34" charset="-120"/>
              </a:rPr>
              <a:t>6 about the customer, 16 per invoice</a:t>
            </a:r>
            <a:endParaRPr lang="en-US" sz="1200" dirty="0"/>
          </a:p>
        </p:txBody>
      </p:sp>
      <p:pic>
        <p:nvPicPr>
          <p:cNvPr id="10" name="Image 1" descr="arrow-right">    </p:cNvPr>
          <p:cNvPicPr>
            <a:picLocks noChangeAspect="1"/>
          </p:cNvPicPr>
          <p:nvPr/>
        </p:nvPicPr>
        <p:blipFill>
          <a:blip r:embed="rId2"/>
          <a:srcRect l="-5" r="-5" t="0" b="0"/>
          <a:stretch/>
        </p:blipFill>
        <p:spPr>
          <a:xfrm>
            <a:off x="3301962" y="3041593"/>
            <a:ext cx="609562" cy="304751"/>
          </a:xfrm>
          <a:prstGeom prst="rect">
            <a:avLst/>
          </a:prstGeom>
        </p:spPr>
      </p:pic>
      <p:pic>
        <p:nvPicPr>
          <p:cNvPr id="11" name="Image 2" descr="arrow-right">    </p:cNvPr>
          <p:cNvPicPr>
            <a:picLocks noChangeAspect="1"/>
          </p:cNvPicPr>
          <p:nvPr/>
        </p:nvPicPr>
        <p:blipFill>
          <a:blip r:embed="rId3"/>
          <a:srcRect l="-5" r="-5" t="0" b="0"/>
          <a:stretch/>
        </p:blipFill>
        <p:spPr>
          <a:xfrm>
            <a:off x="7619983" y="3041593"/>
            <a:ext cx="609562" cy="304751"/>
          </a:xfrm>
          <a:prstGeom prst="rect">
            <a:avLst/>
          </a:prstGeom>
        </p:spPr>
      </p:pic>
      <p:sp>
        <p:nvSpPr>
          <p:cNvPr id="12" name="Text 7"/>
          <p:cNvSpPr/>
          <p:nvPr/>
        </p:nvSpPr>
        <p:spPr>
          <a:xfrm>
            <a:off x="8432793" y="2152639"/>
            <a:ext cx="2354544" cy="1295427"/>
          </a:xfrm>
          <a:prstGeom prst="rect">
            <a:avLst/>
          </a:prstGeom>
          <a:noFill/>
          <a:ln/>
        </p:spPr>
        <p:txBody>
          <a:bodyPr wrap="square" lIns="0" tIns="0" rIns="0" bIns="0" rtlCol="0" anchor="t">
            <a:normAutofit/>
          </a:bodyPr>
          <a:lstStyle/>
          <a:p>
            <a:pPr algn="l" indent="0" marL="0">
              <a:lnSpc>
                <a:spcPts val="10000"/>
              </a:lnSpc>
              <a:buNone/>
            </a:pPr>
            <a:r>
              <a:rPr lang="en-US" sz="10000" b="1" dirty="0">
                <a:solidFill>
                  <a:srgbClr val="E0742B"/>
                </a:solidFill>
                <a:latin typeface="Space Grotesk" pitchFamily="34" charset="0"/>
                <a:ea typeface="Space Grotesk" pitchFamily="34" charset="-122"/>
                <a:cs typeface="Space Grotesk" pitchFamily="34" charset="-120"/>
              </a:rPr>
              <a:t>15</a:t>
            </a:r>
            <a:endParaRPr lang="en-US" sz="10000" dirty="0"/>
          </a:p>
        </p:txBody>
      </p:sp>
      <p:sp>
        <p:nvSpPr>
          <p:cNvPr id="13" name="Text 8"/>
          <p:cNvSpPr/>
          <p:nvPr/>
        </p:nvSpPr>
        <p:spPr>
          <a:xfrm>
            <a:off x="8432793" y="3473448"/>
            <a:ext cx="2354544" cy="309862"/>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2B6C"/>
                </a:solidFill>
                <a:latin typeface="IBM Plex Sans" pitchFamily="34" charset="0"/>
                <a:ea typeface="IBM Plex Sans" pitchFamily="34" charset="-122"/>
                <a:cs typeface="IBM Plex Sans" pitchFamily="34" charset="-120"/>
              </a:rPr>
              <a:t>features per customer</a:t>
            </a:r>
            <a:endParaRPr lang="en-US" sz="1600" dirty="0"/>
          </a:p>
        </p:txBody>
      </p:sp>
      <p:sp>
        <p:nvSpPr>
          <p:cNvPr id="14" name="Text 9"/>
          <p:cNvSpPr/>
          <p:nvPr/>
        </p:nvSpPr>
        <p:spPr>
          <a:xfrm>
            <a:off x="8432793" y="3808693"/>
            <a:ext cx="2354544" cy="45206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5"/>
                </a:solidFill>
                <a:latin typeface="IBM Plex Sans" pitchFamily="34" charset="0"/>
                <a:ea typeface="IBM Plex Sans" pitchFamily="34" charset="-122"/>
                <a:cs typeface="IBM Plex Sans" pitchFamily="34" charset="-120"/>
              </a:rPr>
              <a:t>built from the invoices – one row per customer</a:t>
            </a:r>
            <a:endParaRPr lang="en-US" sz="1200" dirty="0"/>
          </a:p>
        </p:txBody>
      </p:sp>
      <p:sp>
        <p:nvSpPr>
          <p:cNvPr id="15" name="Text 10"/>
          <p:cNvSpPr/>
          <p:nvPr/>
        </p:nvSpPr>
        <p:spPr>
          <a:xfrm>
            <a:off x="4065243" y="2070097"/>
            <a:ext cx="3401021" cy="1295427"/>
          </a:xfrm>
          <a:prstGeom prst="rect">
            <a:avLst/>
          </a:prstGeom>
          <a:noFill/>
          <a:ln/>
        </p:spPr>
        <p:txBody>
          <a:bodyPr wrap="square" lIns="0" tIns="0" rIns="0" bIns="0" rtlCol="0" anchor="t">
            <a:normAutofit/>
          </a:bodyPr>
          <a:lstStyle/>
          <a:p>
            <a:pPr algn="ctr" indent="0" marL="0">
              <a:lnSpc>
                <a:spcPts val="10000"/>
              </a:lnSpc>
              <a:buNone/>
            </a:pPr>
            <a:r>
              <a:rPr lang="en-US" sz="10000" b="1" dirty="0">
                <a:solidFill>
                  <a:srgbClr val="A9AFD1"/>
                </a:solidFill>
                <a:latin typeface="Space Grotesk" pitchFamily="34" charset="0"/>
                <a:ea typeface="Space Grotesk" pitchFamily="34" charset="-122"/>
                <a:cs typeface="Space Grotesk" pitchFamily="34" charset="-120"/>
              </a:rPr>
              <a:t>−7</a:t>
            </a:r>
            <a:endParaRPr lang="en-US" sz="10000" dirty="0"/>
          </a:p>
        </p:txBody>
      </p:sp>
      <p:sp>
        <p:nvSpPr>
          <p:cNvPr id="16" name="Text 11"/>
          <p:cNvSpPr/>
          <p:nvPr/>
        </p:nvSpPr>
        <p:spPr>
          <a:xfrm>
            <a:off x="4114772" y="3390846"/>
            <a:ext cx="3401021" cy="94973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3F5C"/>
                </a:solidFill>
                <a:latin typeface="IBM Plex Sans" pitchFamily="34" charset="0"/>
                <a:ea typeface="IBM Plex Sans" pitchFamily="34" charset="-122"/>
                <a:cs typeface="IBM Plex Sans" pitchFamily="34" charset="-120"/>
              </a:rPr>
              <a:t>2 ID numbers · </a:t>
            </a:r>
            <a:endParaRPr lang="en-US" sz="1300" dirty="0"/>
          </a:p>
          <a:p>
            <a:pPr algn="l" indent="0" marL="0">
              <a:lnSpc>
                <a:spcPts val="1820"/>
              </a:lnSpc>
              <a:buNone/>
            </a:pPr>
            <a:r>
              <a:rPr lang="en-US" sz="1300" dirty="0">
                <a:solidFill>
                  <a:srgbClr val="3A3F5C"/>
                </a:solidFill>
                <a:latin typeface="IBM Plex Sans" pitchFamily="34" charset="0"/>
                <a:ea typeface="IBM Plex Sans" pitchFamily="34" charset="-122"/>
                <a:cs typeface="IBM Plex Sans" pitchFamily="34" charset="-120"/>
              </a:rPr>
              <a:t>1 is the answer itself · </a:t>
            </a:r>
            <a:endParaRPr lang="en-US" sz="1300" dirty="0"/>
          </a:p>
          <a:p>
            <a:pPr algn="l" indent="0" marL="0">
              <a:lnSpc>
                <a:spcPts val="1820"/>
              </a:lnSpc>
              <a:buNone/>
            </a:pPr>
            <a:r>
              <a:rPr lang="en-US" sz="1300" dirty="0">
                <a:solidFill>
                  <a:srgbClr val="3A3F5C"/>
                </a:solidFill>
                <a:latin typeface="IBM Plex Sans" pitchFamily="34" charset="0"/>
                <a:ea typeface="IBM Plex Sans" pitchFamily="34" charset="-122"/>
                <a:cs typeface="IBM Plex Sans" pitchFamily="34" charset="-120"/>
              </a:rPr>
              <a:t>1 unreliable date · </a:t>
            </a:r>
            <a:endParaRPr lang="en-US" sz="1300" dirty="0"/>
          </a:p>
          <a:p>
            <a:pPr algn="l" indent="0" marL="0">
              <a:lnSpc>
                <a:spcPts val="1820"/>
              </a:lnSpc>
              <a:buNone/>
            </a:pPr>
            <a:r>
              <a:rPr lang="en-US" sz="1300" dirty="0">
                <a:solidFill>
                  <a:srgbClr val="3A3F5C"/>
                </a:solidFill>
                <a:latin typeface="IBM Plex Sans" pitchFamily="34" charset="0"/>
                <a:ea typeface="IBM Plex Sans" pitchFamily="34" charset="-122"/>
                <a:cs typeface="IBM Plex Sans" pitchFamily="34" charset="-120"/>
              </a:rPr>
              <a:t>3 with no signal</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ECDD"/>
        </a:solidFill>
      </p:bgPr>
    </p:bg>
    <p:spTree>
      <p:nvGrpSpPr>
        <p:cNvPr id="1" name=""/>
        <p:cNvGrpSpPr/>
        <p:nvPr/>
      </p:nvGrpSpPr>
      <p:grpSpPr>
        <a:xfrm>
          <a:off x="0" y="0"/>
          <a:ext cx="0" cy="0"/>
          <a:chOff x="0" y="0"/>
          <a:chExt cx="0" cy="0"/>
        </a:xfrm>
      </p:grpSpPr>
      <p:sp>
        <p:nvSpPr>
          <p:cNvPr id="2" name="Text 0"/>
          <p:cNvSpPr/>
          <p:nvPr/>
        </p:nvSpPr>
        <p:spPr>
          <a:xfrm>
            <a:off x="812750" y="2049748"/>
            <a:ext cx="4604601" cy="27435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6B6E85"/>
                </a:solidFill>
                <a:latin typeface="IBM Plex Sans" pitchFamily="34" charset="0"/>
                <a:ea typeface="IBM Plex Sans" pitchFamily="34" charset="-122"/>
                <a:cs typeface="IBM Plex Sans" pitchFamily="34" charset="-120"/>
              </a:rPr>
              <a:t>ACCURACY LOOKS GREAT, BUT...</a:t>
            </a:r>
            <a:endParaRPr lang="en-US" sz="1400" dirty="0"/>
          </a:p>
        </p:txBody>
      </p:sp>
      <p:sp>
        <p:nvSpPr>
          <p:cNvPr id="3" name="Text 1"/>
          <p:cNvSpPr/>
          <p:nvPr/>
        </p:nvSpPr>
        <p:spPr>
          <a:xfrm>
            <a:off x="812750" y="2501894"/>
            <a:ext cx="3767282" cy="1168382"/>
          </a:xfrm>
          <a:prstGeom prst="rect">
            <a:avLst/>
          </a:prstGeom>
          <a:noFill/>
          <a:ln/>
        </p:spPr>
        <p:txBody>
          <a:bodyPr wrap="none" lIns="0" tIns="0" rIns="0" bIns="0" rtlCol="0" anchor="t">
            <a:normAutofit/>
          </a:bodyPr>
          <a:lstStyle/>
          <a:p>
            <a:pPr algn="l" indent="0" marL="0">
              <a:lnSpc>
                <a:spcPts val="9000"/>
              </a:lnSpc>
              <a:buNone/>
            </a:pPr>
            <a:r>
              <a:rPr lang="en-US" sz="9000" b="1" dirty="0">
                <a:solidFill>
                  <a:srgbClr val="6B6E85"/>
                </a:solidFill>
                <a:latin typeface="Space Grotesk" pitchFamily="34" charset="0"/>
                <a:ea typeface="Space Grotesk" pitchFamily="34" charset="-122"/>
                <a:cs typeface="Space Grotesk" pitchFamily="34" charset="-120"/>
              </a:rPr>
              <a:t>94.4 %</a:t>
            </a:r>
            <a:endParaRPr lang="en-US" sz="9000" dirty="0"/>
          </a:p>
        </p:txBody>
      </p:sp>
      <p:sp>
        <p:nvSpPr>
          <p:cNvPr id="4" name="Shape 2"/>
          <p:cNvSpPr/>
          <p:nvPr/>
        </p:nvSpPr>
        <p:spPr>
          <a:xfrm rot="21240000">
            <a:off x="812728" y="3035226"/>
            <a:ext cx="3657600" cy="76200"/>
          </a:xfrm>
          <a:prstGeom prst="rect">
            <a:avLst/>
          </a:prstGeom>
          <a:solidFill>
            <a:srgbClr val="E0742B"/>
          </a:solidFill>
          <a:ln/>
        </p:spPr>
      </p:sp>
      <p:sp>
        <p:nvSpPr>
          <p:cNvPr id="5" name="Text 3"/>
          <p:cNvSpPr/>
          <p:nvPr/>
        </p:nvSpPr>
        <p:spPr>
          <a:xfrm>
            <a:off x="812750" y="3848063"/>
            <a:ext cx="4604601" cy="985483"/>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3A3F5C"/>
                </a:solidFill>
                <a:latin typeface="IBM Plex Sans" pitchFamily="34" charset="0"/>
                <a:ea typeface="IBM Plex Sans" pitchFamily="34" charset="-122"/>
                <a:cs typeface="IBM Plex Sans" pitchFamily="34" charset="-120"/>
              </a:rPr>
              <a:t>by always saying “no fraud”. That means:</a:t>
            </a:r>
            <a:endParaRPr lang="en-US" sz="1800" dirty="0"/>
          </a:p>
          <a:p>
            <a:pPr algn="l" indent="0" marL="0">
              <a:lnSpc>
                <a:spcPts val="2520"/>
              </a:lnSpc>
              <a:buNone/>
            </a:pPr>
            <a:r>
              <a:rPr lang="en-US" sz="1800" dirty="0">
                <a:solidFill>
                  <a:srgbClr val="3A3F5C"/>
                </a:solidFill>
                <a:latin typeface="IBM Plex Sans" pitchFamily="34" charset="0"/>
                <a:ea typeface="IBM Plex Sans" pitchFamily="34" charset="-122"/>
                <a:cs typeface="IBM Plex Sans" pitchFamily="34" charset="-120"/>
              </a:rPr>
              <a:t> </a:t>
            </a:r>
            <a:endParaRPr lang="en-US" sz="1800" dirty="0"/>
          </a:p>
          <a:p>
            <a:pPr algn="l" indent="0" marL="0">
              <a:lnSpc>
                <a:spcPts val="2520"/>
              </a:lnSpc>
              <a:buNone/>
            </a:pPr>
            <a:r>
              <a:rPr lang="en-US" sz="1800" dirty="0">
                <a:solidFill>
                  <a:srgbClr val="3A3F5C"/>
                </a:solidFill>
                <a:latin typeface="IBM Plex Sans" pitchFamily="34" charset="0"/>
                <a:ea typeface="IBM Plex Sans" pitchFamily="34" charset="-122"/>
                <a:cs typeface="IBM Plex Sans" pitchFamily="34" charset="-120"/>
              </a:rPr>
              <a:t>it finds </a:t>
            </a:r>
            <a:r>
              <a:rPr lang="en-US" sz="1800" b="1" dirty="0">
                <a:solidFill>
                  <a:srgbClr val="3A3F5C"/>
                </a:solidFill>
                <a:latin typeface="IBM Plex Sans" pitchFamily="34" charset="0"/>
                <a:ea typeface="IBM Plex Sans" pitchFamily="34" charset="-122"/>
                <a:cs typeface="IBM Plex Sans" pitchFamily="34" charset="-120"/>
              </a:rPr>
              <a:t>zero</a:t>
            </a:r>
            <a:r>
              <a:rPr lang="en-US" sz="1800" dirty="0">
                <a:solidFill>
                  <a:srgbClr val="3A3F5C"/>
                </a:solidFill>
                <a:latin typeface="IBM Plex Sans" pitchFamily="34" charset="0"/>
                <a:ea typeface="IBM Plex Sans" pitchFamily="34" charset="-122"/>
                <a:cs typeface="IBM Plex Sans" pitchFamily="34" charset="-120"/>
              </a:rPr>
              <a:t> fraudsters.</a:t>
            </a:r>
            <a:endParaRPr lang="en-US" sz="1800" dirty="0"/>
          </a:p>
        </p:txBody>
      </p:sp>
      <p:sp>
        <p:nvSpPr>
          <p:cNvPr id="6" name="Shape 4"/>
          <p:cNvSpPr/>
          <p:nvPr/>
        </p:nvSpPr>
        <p:spPr>
          <a:xfrm>
            <a:off x="6095986" y="0"/>
            <a:ext cx="6095986" cy="6857954"/>
          </a:xfrm>
          <a:prstGeom prst="rect">
            <a:avLst/>
          </a:prstGeom>
          <a:solidFill>
            <a:srgbClr val="1F2B6C"/>
          </a:solidFill>
          <a:ln/>
        </p:spPr>
      </p:sp>
      <p:sp>
        <p:nvSpPr>
          <p:cNvPr id="7" name="Text 5"/>
          <p:cNvSpPr/>
          <p:nvPr/>
        </p:nvSpPr>
        <p:spPr>
          <a:xfrm>
            <a:off x="6908736" y="1200045"/>
            <a:ext cx="4604601" cy="27435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E0742B"/>
                </a:solidFill>
                <a:latin typeface="IBM Plex Sans" pitchFamily="34" charset="0"/>
                <a:ea typeface="IBM Plex Sans" pitchFamily="34" charset="-122"/>
                <a:cs typeface="IBM Plex Sans" pitchFamily="34" charset="-120"/>
              </a:rPr>
              <a:t>WHAT REALLY COUNTS</a:t>
            </a:r>
            <a:endParaRPr lang="en-US" sz="1400" dirty="0"/>
          </a:p>
        </p:txBody>
      </p:sp>
      <p:sp>
        <p:nvSpPr>
          <p:cNvPr id="8" name="Text 6"/>
          <p:cNvSpPr/>
          <p:nvPr/>
        </p:nvSpPr>
        <p:spPr>
          <a:xfrm>
            <a:off x="6908736" y="1652191"/>
            <a:ext cx="4604601" cy="130539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F3ECDD"/>
                </a:solidFill>
                <a:latin typeface="Space Grotesk" pitchFamily="34" charset="0"/>
                <a:ea typeface="Space Grotesk" pitchFamily="34" charset="-122"/>
                <a:cs typeface="Space Grotesk" pitchFamily="34" charset="-120"/>
              </a:rPr>
              <a:t>Fraudsters found per 10,000 inspections </a:t>
            </a:r>
            <a:r>
              <a:rPr lang="en-US" sz="3200" b="1" dirty="0">
                <a:solidFill>
                  <a:srgbClr val="E0742B"/>
                </a:solidFill>
                <a:latin typeface="Space Grotesk" pitchFamily="34" charset="0"/>
                <a:ea typeface="Space Grotesk" pitchFamily="34" charset="-122"/>
                <a:cs typeface="Space Grotesk" pitchFamily="34" charset="-120"/>
              </a:rPr>
              <a:t>(example)</a:t>
            </a:r>
            <a:endParaRPr lang="en-US" sz="3200" dirty="0"/>
          </a:p>
        </p:txBody>
      </p:sp>
      <p:sp>
        <p:nvSpPr>
          <p:cNvPr id="9" name="Text 7"/>
          <p:cNvSpPr/>
          <p:nvPr/>
        </p:nvSpPr>
        <p:spPr>
          <a:xfrm>
            <a:off x="6908736" y="3135368"/>
            <a:ext cx="4604601" cy="523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9D3C4"/>
                </a:solidFill>
                <a:latin typeface="IBM Plex Sans" pitchFamily="34" charset="0"/>
                <a:ea typeface="IBM Plex Sans" pitchFamily="34" charset="-122"/>
                <a:cs typeface="IBM Plex Sans" pitchFamily="34" charset="-120"/>
              </a:rPr>
              <a:t>Same inspection budget + more cases found = better model. 10,000 is just an example budget.</a:t>
            </a:r>
            <a:endParaRPr lang="en-US" sz="1400" dirty="0"/>
          </a:p>
        </p:txBody>
      </p:sp>
      <p:sp>
        <p:nvSpPr>
          <p:cNvPr id="10" name="Shape 8"/>
          <p:cNvSpPr/>
          <p:nvPr/>
        </p:nvSpPr>
        <p:spPr>
          <a:xfrm>
            <a:off x="6908736" y="3836470"/>
            <a:ext cx="4470486" cy="1821441"/>
          </a:xfrm>
          <a:prstGeom prst="rect">
            <a:avLst/>
          </a:prstGeom>
          <a:solidFill>
            <a:srgbClr val="2B3A85"/>
          </a:solidFill>
          <a:ln/>
        </p:spPr>
      </p:sp>
      <p:sp>
        <p:nvSpPr>
          <p:cNvPr id="11" name="Text 9"/>
          <p:cNvSpPr/>
          <p:nvPr/>
        </p:nvSpPr>
        <p:spPr>
          <a:xfrm>
            <a:off x="7086502" y="4014236"/>
            <a:ext cx="4238402" cy="23873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0742B"/>
                </a:solidFill>
                <a:latin typeface="IBM Plex Sans" pitchFamily="34" charset="0"/>
                <a:ea typeface="IBM Plex Sans" pitchFamily="34" charset="-122"/>
                <a:cs typeface="IBM Plex Sans" pitchFamily="34" charset="-120"/>
              </a:rPr>
              <a:t>WHY ROC-AUC?</a:t>
            </a:r>
            <a:endParaRPr lang="en-US" sz="1200" dirty="0"/>
          </a:p>
        </p:txBody>
      </p:sp>
      <p:sp>
        <p:nvSpPr>
          <p:cNvPr id="12" name="Text 10"/>
          <p:cNvSpPr/>
          <p:nvPr/>
        </p:nvSpPr>
        <p:spPr>
          <a:xfrm>
            <a:off x="7086502" y="4316450"/>
            <a:ext cx="4238402" cy="69383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3ECDD"/>
                </a:solidFill>
                <a:latin typeface="IBM Plex Sans" pitchFamily="34" charset="0"/>
                <a:ea typeface="IBM Plex Sans" pitchFamily="34" charset="-122"/>
                <a:cs typeface="IBM Plex Sans" pitchFamily="34" charset="-120"/>
              </a:rPr>
              <a:t>It scores the </a:t>
            </a:r>
            <a:r>
              <a:rPr lang="en-US" sz="1300" b="1" dirty="0">
                <a:solidFill>
                  <a:srgbClr val="F3ECDD"/>
                </a:solidFill>
                <a:latin typeface="IBM Plex Sans" pitchFamily="34" charset="0"/>
                <a:ea typeface="IBM Plex Sans" pitchFamily="34" charset="-122"/>
                <a:cs typeface="IBM Plex Sans" pitchFamily="34" charset="-120"/>
              </a:rPr>
              <a:t>ranking</a:t>
            </a:r>
            <a:r>
              <a:rPr lang="en-US" sz="1300" dirty="0">
                <a:solidFill>
                  <a:srgbClr val="F3ECDD"/>
                </a:solidFill>
                <a:latin typeface="IBM Plex Sans" pitchFamily="34" charset="0"/>
                <a:ea typeface="IBM Plex Sans" pitchFamily="34" charset="-122"/>
                <a:cs typeface="IBM Plex Sans" pitchFamily="34" charset="-120"/>
              </a:rPr>
              <a:t>: how often a real fraudster gets a higher risk than an honest customer. Not fooled by 94 % honest customers – and it is the Zindi metric.</a:t>
            </a:r>
            <a:endParaRPr lang="en-US" sz="1300" dirty="0"/>
          </a:p>
        </p:txBody>
      </p:sp>
      <p:sp>
        <p:nvSpPr>
          <p:cNvPr id="13" name="Shape 11"/>
          <p:cNvSpPr/>
          <p:nvPr/>
        </p:nvSpPr>
        <p:spPr>
          <a:xfrm>
            <a:off x="7086502" y="5124552"/>
            <a:ext cx="4063991" cy="63462"/>
          </a:xfrm>
          <a:prstGeom prst="rect">
            <a:avLst/>
          </a:prstGeom>
          <a:solidFill>
            <a:srgbClr val="4A5899"/>
          </a:solidFill>
          <a:ln/>
        </p:spPr>
      </p:sp>
      <p:sp>
        <p:nvSpPr>
          <p:cNvPr id="14" name="Shape 12"/>
          <p:cNvSpPr/>
          <p:nvPr/>
        </p:nvSpPr>
        <p:spPr>
          <a:xfrm>
            <a:off x="7086502" y="5124552"/>
            <a:ext cx="2590776" cy="63462"/>
          </a:xfrm>
          <a:prstGeom prst="rect">
            <a:avLst/>
          </a:prstGeom>
          <a:solidFill>
            <a:srgbClr val="E0742B"/>
          </a:solidFill>
          <a:ln/>
        </p:spPr>
      </p:sp>
      <p:sp>
        <p:nvSpPr>
          <p:cNvPr id="15" name="Shape 13"/>
          <p:cNvSpPr/>
          <p:nvPr/>
        </p:nvSpPr>
        <p:spPr>
          <a:xfrm>
            <a:off x="9601076" y="5080109"/>
            <a:ext cx="152345" cy="152345"/>
          </a:xfrm>
          <a:prstGeom prst="roundRect">
            <a:avLst>
              <a:gd name="adj" fmla="val 50000"/>
            </a:avLst>
          </a:prstGeom>
          <a:solidFill>
            <a:srgbClr val="E0742B"/>
          </a:solidFill>
          <a:ln/>
        </p:spPr>
      </p:sp>
      <p:sp>
        <p:nvSpPr>
          <p:cNvPr id="16" name="Text 14"/>
          <p:cNvSpPr/>
          <p:nvPr/>
        </p:nvSpPr>
        <p:spPr>
          <a:xfrm>
            <a:off x="7086502" y="5264215"/>
            <a:ext cx="1130260"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FD1"/>
                </a:solidFill>
                <a:latin typeface="IBM Plex Sans" pitchFamily="34" charset="0"/>
                <a:ea typeface="IBM Plex Sans" pitchFamily="34" charset="-122"/>
                <a:cs typeface="IBM Plex Sans" pitchFamily="34" charset="-120"/>
              </a:rPr>
              <a:t>0.5 coin flip</a:t>
            </a:r>
            <a:endParaRPr lang="en-US" sz="1200" dirty="0"/>
          </a:p>
        </p:txBody>
      </p:sp>
      <p:sp>
        <p:nvSpPr>
          <p:cNvPr id="17" name="Text 15"/>
          <p:cNvSpPr/>
          <p:nvPr/>
        </p:nvSpPr>
        <p:spPr>
          <a:xfrm>
            <a:off x="9181960" y="5264215"/>
            <a:ext cx="1130260" cy="2387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0742B"/>
                </a:solidFill>
                <a:latin typeface="IBM Plex Sans" pitchFamily="34" charset="0"/>
                <a:ea typeface="IBM Plex Sans" pitchFamily="34" charset="-122"/>
                <a:cs typeface="IBM Plex Sans" pitchFamily="34" charset="-120"/>
              </a:rPr>
              <a:t>0.82 our best</a:t>
            </a:r>
            <a:endParaRPr lang="en-US" sz="1200" dirty="0"/>
          </a:p>
        </p:txBody>
      </p:sp>
      <p:sp>
        <p:nvSpPr>
          <p:cNvPr id="18" name="Text 16"/>
          <p:cNvSpPr/>
          <p:nvPr/>
        </p:nvSpPr>
        <p:spPr>
          <a:xfrm>
            <a:off x="10312262" y="5264215"/>
            <a:ext cx="888971"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FD1"/>
                </a:solidFill>
                <a:latin typeface="IBM Plex Sans" pitchFamily="34" charset="0"/>
                <a:ea typeface="IBM Plex Sans" pitchFamily="34" charset="-122"/>
                <a:cs typeface="IBM Plex Sans" pitchFamily="34" charset="-120"/>
              </a:rPr>
              <a:t>1.0 perfect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CDD"/>
        </a:solidFill>
      </p:bgPr>
    </p:bg>
    <p:spTree>
      <p:nvGrpSpPr>
        <p:cNvPr id="1" name=""/>
        <p:cNvGrpSpPr/>
        <p:nvPr/>
      </p:nvGrpSpPr>
      <p:grpSpPr>
        <a:xfrm>
          <a:off x="0" y="0"/>
          <a:ext cx="0" cy="0"/>
          <a:chOff x="0" y="0"/>
          <a:chExt cx="0" cy="0"/>
        </a:xfrm>
      </p:grpSpPr>
      <p:sp>
        <p:nvSpPr>
          <p:cNvPr id="2" name="Text 0"/>
          <p:cNvSpPr/>
          <p:nvPr/>
        </p:nvSpPr>
        <p:spPr>
          <a:xfrm>
            <a:off x="812750" y="812750"/>
            <a:ext cx="10883467" cy="27435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E0742B"/>
                </a:solidFill>
                <a:latin typeface="IBM Plex Sans" pitchFamily="34" charset="0"/>
                <a:ea typeface="IBM Plex Sans" pitchFamily="34" charset="-122"/>
                <a:cs typeface="IBM Plex Sans" pitchFamily="34" charset="-120"/>
              </a:rPr>
              <a:t>02 OF 05 – THE DATA: SIGNALS WE FOUND</a:t>
            </a:r>
            <a:endParaRPr lang="en-US" sz="1400" dirty="0"/>
          </a:p>
        </p:txBody>
      </p:sp>
      <p:sp>
        <p:nvSpPr>
          <p:cNvPr id="3" name="Text 1"/>
          <p:cNvSpPr/>
          <p:nvPr>
            <p:ph type="title"/>
          </p:nvPr>
        </p:nvSpPr>
        <p:spPr>
          <a:xfrm>
            <a:off x="812750" y="1264896"/>
            <a:ext cx="10883467" cy="55876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1F2B6C"/>
                </a:solidFill>
                <a:latin typeface="Space Grotesk" pitchFamily="34" charset="0"/>
                <a:ea typeface="Space Grotesk" pitchFamily="34" charset="-122"/>
                <a:cs typeface="Space Grotesk" pitchFamily="34" charset="-120"/>
              </a:rPr>
              <a:t>Some groups cheat </a:t>
            </a:r>
            <a:r>
              <a:rPr lang="en-US" sz="4000" b="1" i="0" dirty="0">
                <a:solidFill>
                  <a:srgbClr val="E0742B"/>
                </a:solidFill>
                <a:latin typeface="Space Grotesk" pitchFamily="34" charset="0"/>
                <a:ea typeface="Space Grotesk" pitchFamily="34" charset="-122"/>
                <a:cs typeface="Space Grotesk" pitchFamily="34" charset="-120"/>
              </a:rPr>
              <a:t>3× more often</a:t>
            </a:r>
            <a:r>
              <a:rPr lang="en-US" sz="4000" b="1" i="0" dirty="0">
                <a:solidFill>
                  <a:srgbClr val="1F2B6C"/>
                </a:solidFill>
                <a:latin typeface="Space Grotesk" pitchFamily="34" charset="0"/>
                <a:ea typeface="Space Grotesk" pitchFamily="34" charset="-122"/>
                <a:cs typeface="Space Grotesk" pitchFamily="34" charset="-120"/>
              </a:rPr>
              <a:t>.</a:t>
            </a:r>
            <a:endParaRPr lang="en-US" sz="4000" dirty="0"/>
          </a:p>
        </p:txBody>
      </p:sp>
      <p:sp>
        <p:nvSpPr>
          <p:cNvPr id="4" name="Text 2"/>
          <p:cNvSpPr/>
          <p:nvPr/>
        </p:nvSpPr>
        <p:spPr>
          <a:xfrm>
            <a:off x="812750" y="2001444"/>
            <a:ext cx="9810744" cy="55882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3F5C"/>
                </a:solidFill>
                <a:latin typeface="IBM Plex Sans" pitchFamily="34" charset="0"/>
                <a:ea typeface="IBM Plex Sans" pitchFamily="34" charset="-122"/>
                <a:cs typeface="IBM Plex Sans" pitchFamily="34" charset="-120"/>
              </a:rPr>
              <a:t>Signals we spotted while exploring the data. Each % = </a:t>
            </a:r>
            <a:r>
              <a:rPr lang="en-US" sz="1500" b="1" dirty="0">
                <a:solidFill>
                  <a:srgbClr val="3A3F5C"/>
                </a:solidFill>
                <a:latin typeface="IBM Plex Sans" pitchFamily="34" charset="0"/>
                <a:ea typeface="IBM Plex Sans" pitchFamily="34" charset="-122"/>
                <a:cs typeface="IBM Plex Sans" pitchFamily="34" charset="-120"/>
              </a:rPr>
              <a:t>how many customers in that group are fraudsters</a:t>
            </a:r>
            <a:r>
              <a:rPr lang="en-US" sz="1500" dirty="0">
                <a:solidFill>
                  <a:srgbClr val="3A3F5C"/>
                </a:solidFill>
                <a:latin typeface="IBM Plex Sans" pitchFamily="34" charset="0"/>
                <a:ea typeface="IBM Plex Sans" pitchFamily="34" charset="-122"/>
                <a:cs typeface="IBM Plex Sans" pitchFamily="34" charset="-120"/>
              </a:rPr>
              <a:t> – on average it is 5.6 %.</a:t>
            </a:r>
            <a:endParaRPr lang="en-US" sz="1500" dirty="0"/>
          </a:p>
        </p:txBody>
      </p:sp>
      <p:sp>
        <p:nvSpPr>
          <p:cNvPr id="5" name="Text 3"/>
          <p:cNvSpPr/>
          <p:nvPr/>
        </p:nvSpPr>
        <p:spPr>
          <a:xfrm>
            <a:off x="812750" y="2800245"/>
            <a:ext cx="3008577" cy="29211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B6C"/>
                </a:solidFill>
                <a:latin typeface="IBM Plex Sans" pitchFamily="34" charset="0"/>
                <a:ea typeface="IBM Plex Sans" pitchFamily="34" charset="-122"/>
                <a:cs typeface="IBM Plex Sans" pitchFamily="34" charset="-120"/>
              </a:rPr>
              <a:t>Special customer group</a:t>
            </a:r>
            <a:endParaRPr lang="en-US" sz="1500" dirty="0"/>
          </a:p>
        </p:txBody>
      </p:sp>
      <p:sp>
        <p:nvSpPr>
          <p:cNvPr id="6" name="Shape 4"/>
          <p:cNvSpPr/>
          <p:nvPr/>
        </p:nvSpPr>
        <p:spPr>
          <a:xfrm>
            <a:off x="3886043" y="2755804"/>
            <a:ext cx="4444945" cy="355593"/>
          </a:xfrm>
          <a:prstGeom prst="rect">
            <a:avLst/>
          </a:prstGeom>
          <a:solidFill>
            <a:srgbClr val="E0742B"/>
          </a:solidFill>
          <a:ln/>
        </p:spPr>
      </p:sp>
      <p:sp>
        <p:nvSpPr>
          <p:cNvPr id="7" name="Text 5"/>
          <p:cNvSpPr/>
          <p:nvPr/>
        </p:nvSpPr>
        <p:spPr>
          <a:xfrm>
            <a:off x="8483333" y="2738050"/>
            <a:ext cx="1130260" cy="41649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F2B6C"/>
                </a:solidFill>
                <a:latin typeface="Space Grotesk" pitchFamily="34" charset="0"/>
                <a:ea typeface="Space Grotesk" pitchFamily="34" charset="-122"/>
                <a:cs typeface="Space Grotesk" pitchFamily="34" charset="-120"/>
              </a:rPr>
              <a:t>16.9 %</a:t>
            </a:r>
            <a:endParaRPr lang="en-US" sz="2200" dirty="0"/>
          </a:p>
        </p:txBody>
      </p:sp>
      <p:sp>
        <p:nvSpPr>
          <p:cNvPr id="8" name="Text 6"/>
          <p:cNvSpPr/>
          <p:nvPr/>
        </p:nvSpPr>
        <p:spPr>
          <a:xfrm>
            <a:off x="9715139" y="2818057"/>
            <a:ext cx="1357812" cy="25648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0742B"/>
                </a:solidFill>
                <a:latin typeface="IBM Plex Sans" pitchFamily="34" charset="0"/>
                <a:ea typeface="IBM Plex Sans" pitchFamily="34" charset="-122"/>
                <a:cs typeface="IBM Plex Sans" pitchFamily="34" charset="-120"/>
              </a:rPr>
              <a:t>3× the average</a:t>
            </a:r>
            <a:endParaRPr lang="en-US" sz="1300" dirty="0"/>
          </a:p>
        </p:txBody>
      </p:sp>
      <p:sp>
        <p:nvSpPr>
          <p:cNvPr id="9" name="Text 7"/>
          <p:cNvSpPr/>
          <p:nvPr/>
        </p:nvSpPr>
        <p:spPr>
          <a:xfrm>
            <a:off x="812750" y="3292906"/>
            <a:ext cx="3008577" cy="29211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B6C"/>
                </a:solidFill>
                <a:latin typeface="IBM Plex Sans" pitchFamily="34" charset="0"/>
                <a:ea typeface="IBM Plex Sans" pitchFamily="34" charset="-122"/>
                <a:cs typeface="IBM Plex Sans" pitchFamily="34" charset="-120"/>
              </a:rPr>
              <a:t>Invoice ≠ meter reading</a:t>
            </a:r>
            <a:endParaRPr lang="en-US" sz="1500" dirty="0"/>
          </a:p>
        </p:txBody>
      </p:sp>
      <p:sp>
        <p:nvSpPr>
          <p:cNvPr id="10" name="Shape 8"/>
          <p:cNvSpPr/>
          <p:nvPr/>
        </p:nvSpPr>
        <p:spPr>
          <a:xfrm>
            <a:off x="3886043" y="3248465"/>
            <a:ext cx="2343147" cy="355593"/>
          </a:xfrm>
          <a:prstGeom prst="rect">
            <a:avLst/>
          </a:prstGeom>
          <a:solidFill>
            <a:srgbClr val="1F2B6C"/>
          </a:solidFill>
          <a:ln/>
        </p:spPr>
      </p:sp>
      <p:sp>
        <p:nvSpPr>
          <p:cNvPr id="11" name="Text 9"/>
          <p:cNvSpPr/>
          <p:nvPr/>
        </p:nvSpPr>
        <p:spPr>
          <a:xfrm>
            <a:off x="6381536" y="3230711"/>
            <a:ext cx="1130260" cy="41649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F2B6C"/>
                </a:solidFill>
                <a:latin typeface="Space Grotesk" pitchFamily="34" charset="0"/>
                <a:ea typeface="Space Grotesk" pitchFamily="34" charset="-122"/>
                <a:cs typeface="Space Grotesk" pitchFamily="34" charset="-120"/>
              </a:rPr>
              <a:t>8.9 %</a:t>
            </a:r>
            <a:endParaRPr lang="en-US" sz="2200" dirty="0"/>
          </a:p>
        </p:txBody>
      </p:sp>
      <p:sp>
        <p:nvSpPr>
          <p:cNvPr id="12" name="Text 10"/>
          <p:cNvSpPr/>
          <p:nvPr/>
        </p:nvSpPr>
        <p:spPr>
          <a:xfrm>
            <a:off x="7613341" y="3310719"/>
            <a:ext cx="1493600" cy="2564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3F5C"/>
                </a:solidFill>
                <a:latin typeface="IBM Plex Sans" pitchFamily="34" charset="0"/>
                <a:ea typeface="IBM Plex Sans" pitchFamily="34" charset="-122"/>
                <a:cs typeface="IBM Plex Sans" pitchFamily="34" charset="-120"/>
              </a:rPr>
              <a:t>1.6× the average</a:t>
            </a:r>
            <a:endParaRPr lang="en-US" sz="1300" dirty="0"/>
          </a:p>
        </p:txBody>
      </p:sp>
      <p:sp>
        <p:nvSpPr>
          <p:cNvPr id="13" name="Text 11"/>
          <p:cNvSpPr/>
          <p:nvPr/>
        </p:nvSpPr>
        <p:spPr>
          <a:xfrm>
            <a:off x="812750" y="3785567"/>
            <a:ext cx="3008577" cy="29211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B6C"/>
                </a:solidFill>
                <a:latin typeface="IBM Plex Sans" pitchFamily="34" charset="0"/>
                <a:ea typeface="IBM Plex Sans" pitchFamily="34" charset="-122"/>
                <a:cs typeface="IBM Plex Sans" pitchFamily="34" charset="-120"/>
              </a:rPr>
              <a:t>Non-standard tariff</a:t>
            </a:r>
            <a:endParaRPr lang="en-US" sz="1500" dirty="0"/>
          </a:p>
        </p:txBody>
      </p:sp>
      <p:sp>
        <p:nvSpPr>
          <p:cNvPr id="14" name="Shape 12"/>
          <p:cNvSpPr/>
          <p:nvPr/>
        </p:nvSpPr>
        <p:spPr>
          <a:xfrm>
            <a:off x="3886043" y="3741127"/>
            <a:ext cx="1917691" cy="355593"/>
          </a:xfrm>
          <a:prstGeom prst="rect">
            <a:avLst/>
          </a:prstGeom>
          <a:solidFill>
            <a:srgbClr val="1F2B6C"/>
          </a:solidFill>
          <a:ln/>
        </p:spPr>
      </p:sp>
      <p:sp>
        <p:nvSpPr>
          <p:cNvPr id="15" name="Text 13"/>
          <p:cNvSpPr/>
          <p:nvPr/>
        </p:nvSpPr>
        <p:spPr>
          <a:xfrm>
            <a:off x="5956080" y="3723373"/>
            <a:ext cx="1130260" cy="41649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F2B6C"/>
                </a:solidFill>
                <a:latin typeface="Space Grotesk" pitchFamily="34" charset="0"/>
                <a:ea typeface="Space Grotesk" pitchFamily="34" charset="-122"/>
                <a:cs typeface="Space Grotesk" pitchFamily="34" charset="-120"/>
              </a:rPr>
              <a:t>7.3 %</a:t>
            </a:r>
            <a:endParaRPr lang="en-US" sz="2200" dirty="0"/>
          </a:p>
        </p:txBody>
      </p:sp>
      <p:sp>
        <p:nvSpPr>
          <p:cNvPr id="16" name="Text 14"/>
          <p:cNvSpPr/>
          <p:nvPr/>
        </p:nvSpPr>
        <p:spPr>
          <a:xfrm>
            <a:off x="7187885" y="3803380"/>
            <a:ext cx="1493600" cy="2564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3F5C"/>
                </a:solidFill>
                <a:latin typeface="IBM Plex Sans" pitchFamily="34" charset="0"/>
                <a:ea typeface="IBM Plex Sans" pitchFamily="34" charset="-122"/>
                <a:cs typeface="IBM Plex Sans" pitchFamily="34" charset="-120"/>
              </a:rPr>
              <a:t>1.3× the average</a:t>
            </a:r>
            <a:endParaRPr lang="en-US" sz="1300" dirty="0"/>
          </a:p>
        </p:txBody>
      </p:sp>
      <p:sp>
        <p:nvSpPr>
          <p:cNvPr id="17" name="Text 15"/>
          <p:cNvSpPr/>
          <p:nvPr/>
        </p:nvSpPr>
        <p:spPr>
          <a:xfrm>
            <a:off x="812750" y="4278229"/>
            <a:ext cx="3008577" cy="29211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6B6E85"/>
                </a:solidFill>
                <a:latin typeface="IBM Plex Sans" pitchFamily="34" charset="0"/>
                <a:ea typeface="IBM Plex Sans" pitchFamily="34" charset="-122"/>
                <a:cs typeface="IBM Plex Sans" pitchFamily="34" charset="-120"/>
              </a:rPr>
              <a:t>Average customer</a:t>
            </a:r>
            <a:endParaRPr lang="en-US" sz="1500" dirty="0"/>
          </a:p>
        </p:txBody>
      </p:sp>
      <p:sp>
        <p:nvSpPr>
          <p:cNvPr id="18" name="Shape 16"/>
          <p:cNvSpPr/>
          <p:nvPr/>
        </p:nvSpPr>
        <p:spPr>
          <a:xfrm>
            <a:off x="3886043" y="4233788"/>
            <a:ext cx="1473154" cy="355593"/>
          </a:xfrm>
          <a:prstGeom prst="rect">
            <a:avLst/>
          </a:prstGeom>
          <a:solidFill>
            <a:srgbClr val="A9AFD1"/>
          </a:solidFill>
          <a:ln/>
        </p:spPr>
      </p:sp>
      <p:sp>
        <p:nvSpPr>
          <p:cNvPr id="19" name="Text 17"/>
          <p:cNvSpPr/>
          <p:nvPr/>
        </p:nvSpPr>
        <p:spPr>
          <a:xfrm>
            <a:off x="5511543" y="4216037"/>
            <a:ext cx="1130260" cy="41649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6B6E85"/>
                </a:solidFill>
                <a:latin typeface="Space Grotesk" pitchFamily="34" charset="0"/>
                <a:ea typeface="Space Grotesk" pitchFamily="34" charset="-122"/>
                <a:cs typeface="Space Grotesk" pitchFamily="34" charset="-120"/>
              </a:rPr>
              <a:t>5.6 %</a:t>
            </a:r>
            <a:endParaRPr lang="en-US" sz="2200" dirty="0"/>
          </a:p>
        </p:txBody>
      </p:sp>
      <p:sp>
        <p:nvSpPr>
          <p:cNvPr id="20" name="Text 18"/>
          <p:cNvSpPr/>
          <p:nvPr/>
        </p:nvSpPr>
        <p:spPr>
          <a:xfrm>
            <a:off x="6743348" y="4296042"/>
            <a:ext cx="1036310" cy="2564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6E85"/>
                </a:solidFill>
                <a:latin typeface="IBM Plex Sans" pitchFamily="34" charset="0"/>
                <a:ea typeface="IBM Plex Sans" pitchFamily="34" charset="-122"/>
                <a:cs typeface="IBM Plex Sans" pitchFamily="34" charset="-120"/>
              </a:rPr>
              <a:t>the average</a:t>
            </a:r>
            <a:endParaRPr lang="en-US" sz="1300" dirty="0"/>
          </a:p>
        </p:txBody>
      </p:sp>
      <p:sp>
        <p:nvSpPr>
          <p:cNvPr id="21" name="Text 19"/>
          <p:cNvSpPr/>
          <p:nvPr/>
        </p:nvSpPr>
        <p:spPr>
          <a:xfrm>
            <a:off x="812750" y="4770890"/>
            <a:ext cx="3008577" cy="29211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B6C"/>
                </a:solidFill>
                <a:latin typeface="IBM Plex Sans" pitchFamily="34" charset="0"/>
                <a:ea typeface="IBM Plex Sans" pitchFamily="34" charset="-122"/>
                <a:cs typeface="IBM Plex Sans" pitchFamily="34" charset="-120"/>
              </a:rPr>
              <a:t>Meter status code 1</a:t>
            </a:r>
            <a:endParaRPr lang="en-US" sz="1500" dirty="0"/>
          </a:p>
        </p:txBody>
      </p:sp>
      <p:sp>
        <p:nvSpPr>
          <p:cNvPr id="22" name="Shape 20"/>
          <p:cNvSpPr/>
          <p:nvPr/>
        </p:nvSpPr>
        <p:spPr>
          <a:xfrm>
            <a:off x="3886043" y="4726449"/>
            <a:ext cx="292071" cy="355593"/>
          </a:xfrm>
          <a:prstGeom prst="rect">
            <a:avLst/>
          </a:prstGeom>
          <a:solidFill>
            <a:srgbClr val="1F2B6C"/>
          </a:solidFill>
          <a:ln/>
        </p:spPr>
      </p:sp>
      <p:sp>
        <p:nvSpPr>
          <p:cNvPr id="23" name="Text 21"/>
          <p:cNvSpPr/>
          <p:nvPr/>
        </p:nvSpPr>
        <p:spPr>
          <a:xfrm>
            <a:off x="4330459" y="4708699"/>
            <a:ext cx="1130260" cy="41649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F2B6C"/>
                </a:solidFill>
                <a:latin typeface="Space Grotesk" pitchFamily="34" charset="0"/>
                <a:ea typeface="Space Grotesk" pitchFamily="34" charset="-122"/>
                <a:cs typeface="Space Grotesk" pitchFamily="34" charset="-120"/>
              </a:rPr>
              <a:t>1.1 %</a:t>
            </a:r>
            <a:endParaRPr lang="en-US" sz="2200" dirty="0"/>
          </a:p>
        </p:txBody>
      </p:sp>
      <p:sp>
        <p:nvSpPr>
          <p:cNvPr id="24" name="Text 22"/>
          <p:cNvSpPr/>
          <p:nvPr/>
        </p:nvSpPr>
        <p:spPr>
          <a:xfrm>
            <a:off x="5562264" y="4788703"/>
            <a:ext cx="638945" cy="2564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3F5C"/>
                </a:solidFill>
                <a:latin typeface="IBM Plex Sans" pitchFamily="34" charset="0"/>
                <a:ea typeface="IBM Plex Sans" pitchFamily="34" charset="-122"/>
                <a:cs typeface="IBM Plex Sans" pitchFamily="34" charset="-120"/>
              </a:rPr>
              <a:t>5× less</a:t>
            </a:r>
            <a:endParaRPr lang="en-US" sz="1300" dirty="0"/>
          </a:p>
        </p:txBody>
      </p:sp>
      <p:sp>
        <p:nvSpPr>
          <p:cNvPr id="25" name="Text 23"/>
          <p:cNvSpPr/>
          <p:nvPr/>
        </p:nvSpPr>
        <p:spPr>
          <a:xfrm>
            <a:off x="812750" y="5302982"/>
            <a:ext cx="10883467" cy="30986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3F5C"/>
                </a:solidFill>
                <a:latin typeface="IBM Plex Sans" pitchFamily="34" charset="0"/>
                <a:ea typeface="IBM Plex Sans" pitchFamily="34" charset="-122"/>
                <a:cs typeface="IBM Plex Sans" pitchFamily="34" charset="-120"/>
              </a:rPr>
              <a:t>One signal alone is weak – </a:t>
            </a:r>
            <a:r>
              <a:rPr lang="en-US" sz="1600" b="1" dirty="0">
                <a:solidFill>
                  <a:srgbClr val="3A3F5C"/>
                </a:solidFill>
                <a:latin typeface="IBM Plex Sans" pitchFamily="34" charset="0"/>
                <a:ea typeface="IBM Plex Sans" pitchFamily="34" charset="-122"/>
                <a:cs typeface="IBM Plex Sans" pitchFamily="34" charset="-120"/>
              </a:rPr>
              <a:t>combined</a:t>
            </a:r>
            <a:r>
              <a:rPr lang="en-US" sz="1600" dirty="0">
                <a:solidFill>
                  <a:srgbClr val="3A3F5C"/>
                </a:solidFill>
                <a:latin typeface="IBM Plex Sans" pitchFamily="34" charset="0"/>
                <a:ea typeface="IBM Plex Sans" pitchFamily="34" charset="-122"/>
                <a:cs typeface="IBM Plex Sans" pitchFamily="34" charset="-120"/>
              </a:rPr>
              <a:t>, they point to the customers worth a visit.</a:t>
            </a:r>
            <a:endParaRPr lang="en-US" sz="1600" dirty="0"/>
          </a:p>
        </p:txBody>
      </p:sp>
      <p:sp>
        <p:nvSpPr>
          <p:cNvPr id="26" name="Text 24"/>
          <p:cNvSpPr/>
          <p:nvPr/>
        </p:nvSpPr>
        <p:spPr>
          <a:xfrm>
            <a:off x="812750" y="6238249"/>
            <a:ext cx="10883342"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5"/>
                </a:solidFill>
                <a:latin typeface="IBM Plex Sans" pitchFamily="34" charset="0"/>
                <a:ea typeface="IBM Plex Sans" pitchFamily="34" charset="-122"/>
                <a:cs typeface="IBM Plex Sans" pitchFamily="34" charset="-120"/>
              </a:rPr>
              <a:t>Share of fraudsters per group · training part (80 % of customers)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2B6C"/>
        </a:solidFill>
      </p:bgPr>
    </p:bg>
    <p:spTree>
      <p:nvGrpSpPr>
        <p:cNvPr id="1" name=""/>
        <p:cNvGrpSpPr/>
        <p:nvPr/>
      </p:nvGrpSpPr>
      <p:grpSpPr>
        <a:xfrm>
          <a:off x="0" y="0"/>
          <a:ext cx="0" cy="0"/>
          <a:chOff x="0" y="0"/>
          <a:chExt cx="0" cy="0"/>
        </a:xfrm>
      </p:grpSpPr>
      <p:sp>
        <p:nvSpPr>
          <p:cNvPr id="2" name="Text 0"/>
          <p:cNvSpPr/>
          <p:nvPr/>
        </p:nvSpPr>
        <p:spPr>
          <a:xfrm>
            <a:off x="812750" y="812750"/>
            <a:ext cx="10883467" cy="27435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E0742B"/>
                </a:solidFill>
                <a:latin typeface="IBM Plex Sans" pitchFamily="34" charset="0"/>
                <a:ea typeface="IBM Plex Sans" pitchFamily="34" charset="-122"/>
                <a:cs typeface="IBM Plex Sans" pitchFamily="34" charset="-120"/>
              </a:rPr>
              <a:t>03 OF 05 – THE LEAK THAT FOOLED US: OUR TURNING POINT</a:t>
            </a:r>
            <a:endParaRPr lang="en-US" sz="1400" dirty="0"/>
          </a:p>
        </p:txBody>
      </p:sp>
      <p:sp>
        <p:nvSpPr>
          <p:cNvPr id="3" name="Text 1"/>
          <p:cNvSpPr/>
          <p:nvPr/>
        </p:nvSpPr>
        <p:spPr>
          <a:xfrm>
            <a:off x="812750" y="1315675"/>
            <a:ext cx="1780140" cy="685805"/>
          </a:xfrm>
          <a:prstGeom prst="rect">
            <a:avLst/>
          </a:prstGeom>
          <a:noFill/>
          <a:ln/>
        </p:spPr>
        <p:txBody>
          <a:bodyPr wrap="square" lIns="0" tIns="0" rIns="0" bIns="0" rtlCol="0" anchor="t">
            <a:normAutofit/>
          </a:bodyPr>
          <a:lstStyle/>
          <a:p>
            <a:pPr algn="l" indent="0" marL="0">
              <a:lnSpc>
                <a:spcPts val="5200"/>
              </a:lnSpc>
              <a:buNone/>
            </a:pPr>
            <a:r>
              <a:rPr lang="en-US" sz="5200" b="1" strike="sngStrike" dirty="0">
                <a:solidFill>
                  <a:srgbClr val="A9AFD1"/>
                </a:solidFill>
                <a:latin typeface="Space Grotesk" pitchFamily="34" charset="0"/>
                <a:ea typeface="Space Grotesk" pitchFamily="34" charset="-122"/>
                <a:cs typeface="Space Grotesk" pitchFamily="34" charset="-120"/>
              </a:rPr>
              <a:t>DATA</a:t>
            </a:r>
            <a:endParaRPr lang="en-US" sz="5200" dirty="0"/>
          </a:p>
        </p:txBody>
      </p:sp>
      <p:sp>
        <p:nvSpPr>
          <p:cNvPr id="4" name="Text 2"/>
          <p:cNvSpPr/>
          <p:nvPr/>
        </p:nvSpPr>
        <p:spPr>
          <a:xfrm>
            <a:off x="2592889" y="1315675"/>
            <a:ext cx="6003528" cy="685805"/>
          </a:xfrm>
          <a:prstGeom prst="rect">
            <a:avLst/>
          </a:prstGeom>
          <a:noFill/>
          <a:ln/>
        </p:spPr>
        <p:txBody>
          <a:bodyPr wrap="square" lIns="0" tIns="0" rIns="0" bIns="0" rtlCol="0" anchor="t">
            <a:normAutofit/>
          </a:bodyPr>
          <a:lstStyle/>
          <a:p>
            <a:pPr algn="l" indent="0" marL="0">
              <a:lnSpc>
                <a:spcPts val="5200"/>
              </a:lnSpc>
              <a:buNone/>
            </a:pPr>
            <a:r>
              <a:rPr lang="en-US" sz="5200" b="1" dirty="0">
                <a:solidFill>
                  <a:srgbClr val="F3ECDD"/>
                </a:solidFill>
                <a:latin typeface="Space Grotesk" pitchFamily="34" charset="0"/>
                <a:ea typeface="Space Grotesk" pitchFamily="34" charset="-122"/>
                <a:cs typeface="Space Grotesk" pitchFamily="34" charset="-120"/>
              </a:rPr>
              <a:t>TARGET leakage</a:t>
            </a:r>
            <a:endParaRPr lang="en-US" sz="5200" dirty="0"/>
          </a:p>
        </p:txBody>
      </p:sp>
      <p:sp>
        <p:nvSpPr>
          <p:cNvPr id="5" name="Text 3"/>
          <p:cNvSpPr/>
          <p:nvPr/>
        </p:nvSpPr>
        <p:spPr>
          <a:xfrm>
            <a:off x="812750" y="3865693"/>
            <a:ext cx="6906902" cy="345428"/>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D9D3C4"/>
                </a:solidFill>
                <a:latin typeface="IBM Plex Sans" pitchFamily="34" charset="0"/>
                <a:ea typeface="IBM Plex Sans" pitchFamily="34" charset="-122"/>
                <a:cs typeface="IBM Plex Sans" pitchFamily="34" charset="-120"/>
              </a:rPr>
              <a:t>When STEG </a:t>
            </a:r>
            <a:r>
              <a:rPr lang="en-US" sz="1800" b="1" dirty="0">
                <a:solidFill>
                  <a:srgbClr val="F3ECDD"/>
                </a:solidFill>
                <a:latin typeface="IBM Plex Sans" pitchFamily="34" charset="0"/>
                <a:ea typeface="IBM Plex Sans" pitchFamily="34" charset="-122"/>
                <a:cs typeface="IBM Plex Sans" pitchFamily="34" charset="-120"/>
              </a:rPr>
              <a:t>catches</a:t>
            </a:r>
            <a:r>
              <a:rPr lang="en-US" sz="1800" dirty="0">
                <a:solidFill>
                  <a:srgbClr val="D9D3C4"/>
                </a:solidFill>
                <a:latin typeface="IBM Plex Sans" pitchFamily="34" charset="0"/>
                <a:ea typeface="IBM Plex Sans" pitchFamily="34" charset="-122"/>
                <a:cs typeface="IBM Plex Sans" pitchFamily="34" charset="-120"/>
              </a:rPr>
              <a:t> a fraudster, it </a:t>
            </a:r>
            <a:r>
              <a:rPr lang="en-US" sz="1800" b="1" dirty="0">
                <a:solidFill>
                  <a:srgbClr val="F3ECDD"/>
                </a:solidFill>
                <a:latin typeface="IBM Plex Sans" pitchFamily="34" charset="0"/>
                <a:ea typeface="IBM Plex Sans" pitchFamily="34" charset="-122"/>
                <a:cs typeface="IBM Plex Sans" pitchFamily="34" charset="-120"/>
              </a:rPr>
              <a:t>replaces the meter</a:t>
            </a:r>
            <a:r>
              <a:rPr lang="en-US" sz="1800" dirty="0">
                <a:solidFill>
                  <a:srgbClr val="D9D3C4"/>
                </a:solidFill>
                <a:latin typeface="IBM Plex Sans" pitchFamily="34" charset="0"/>
                <a:ea typeface="IBM Plex Sans" pitchFamily="34" charset="-122"/>
                <a:cs typeface="IBM Plex Sans" pitchFamily="34" charset="-120"/>
              </a:rPr>
              <a:t>.</a:t>
            </a:r>
            <a:endParaRPr lang="en-US" sz="1800" dirty="0"/>
          </a:p>
        </p:txBody>
      </p:sp>
      <p:sp>
        <p:nvSpPr>
          <p:cNvPr id="6" name="Text 4"/>
          <p:cNvSpPr/>
          <p:nvPr/>
        </p:nvSpPr>
        <p:spPr>
          <a:xfrm>
            <a:off x="812750" y="4338067"/>
            <a:ext cx="6906902" cy="665456"/>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D9D3C4"/>
                </a:solidFill>
                <a:latin typeface="IBM Plex Sans" pitchFamily="34" charset="0"/>
                <a:ea typeface="IBM Plex Sans" pitchFamily="34" charset="-122"/>
                <a:cs typeface="IBM Plex Sans" pitchFamily="34" charset="-120"/>
              </a:rPr>
              <a:t>“Number of meters” was our best signal – because it was </a:t>
            </a:r>
            <a:r>
              <a:rPr lang="en-US" sz="1800" b="1" dirty="0">
                <a:solidFill>
                  <a:srgbClr val="E0742B"/>
                </a:solidFill>
                <a:latin typeface="IBM Plex Sans" pitchFamily="34" charset="0"/>
                <a:ea typeface="IBM Plex Sans" pitchFamily="34" charset="-122"/>
                <a:cs typeface="IBM Plex Sans" pitchFamily="34" charset="-120"/>
              </a:rPr>
              <a:t>the answer sheet</a:t>
            </a:r>
            <a:r>
              <a:rPr lang="en-US" sz="1800" dirty="0">
                <a:solidFill>
                  <a:srgbClr val="D9D3C4"/>
                </a:solidFill>
                <a:latin typeface="IBM Plex Sans" pitchFamily="34" charset="0"/>
                <a:ea typeface="IBM Plex Sans" pitchFamily="34" charset="-122"/>
                <a:cs typeface="IBM Plex Sans" pitchFamily="34" charset="-120"/>
              </a:rPr>
              <a:t>.</a:t>
            </a:r>
            <a:endParaRPr lang="en-US" sz="1800" dirty="0"/>
          </a:p>
        </p:txBody>
      </p:sp>
      <p:sp>
        <p:nvSpPr>
          <p:cNvPr id="7" name="Text 5"/>
          <p:cNvSpPr/>
          <p:nvPr/>
        </p:nvSpPr>
        <p:spPr>
          <a:xfrm>
            <a:off x="8024721" y="2230050"/>
            <a:ext cx="1527511" cy="584181"/>
          </a:xfrm>
          <a:prstGeom prst="rect">
            <a:avLst/>
          </a:prstGeom>
          <a:noFill/>
          <a:ln/>
        </p:spPr>
        <p:txBody>
          <a:bodyPr wrap="square" lIns="0" tIns="0" rIns="0" bIns="0" rtlCol="0" anchor="t">
            <a:normAutofit/>
          </a:bodyPr>
          <a:lstStyle/>
          <a:p>
            <a:pPr algn="ctr" indent="0" marL="0">
              <a:lnSpc>
                <a:spcPts val="4400"/>
              </a:lnSpc>
              <a:buNone/>
            </a:pPr>
            <a:r>
              <a:rPr lang="en-US" sz="4400" b="1" dirty="0">
                <a:solidFill>
                  <a:srgbClr val="E0742B"/>
                </a:solidFill>
                <a:latin typeface="Space Grotesk" pitchFamily="34" charset="0"/>
                <a:ea typeface="Space Grotesk" pitchFamily="34" charset="-122"/>
                <a:cs typeface="Space Grotesk" pitchFamily="34" charset="-120"/>
              </a:rPr>
              <a:t>60 %</a:t>
            </a:r>
            <a:endParaRPr lang="en-US" sz="4400" dirty="0"/>
          </a:p>
        </p:txBody>
      </p:sp>
      <p:sp>
        <p:nvSpPr>
          <p:cNvPr id="8" name="Shape 6"/>
          <p:cNvSpPr/>
          <p:nvPr/>
        </p:nvSpPr>
        <p:spPr>
          <a:xfrm>
            <a:off x="8153464" y="2890394"/>
            <a:ext cx="1269967" cy="1523997"/>
          </a:xfrm>
          <a:prstGeom prst="rect">
            <a:avLst/>
          </a:prstGeom>
          <a:solidFill>
            <a:srgbClr val="E0742B"/>
          </a:solidFill>
          <a:ln/>
        </p:spPr>
      </p:sp>
      <p:sp>
        <p:nvSpPr>
          <p:cNvPr id="9" name="Text 7"/>
          <p:cNvSpPr/>
          <p:nvPr/>
        </p:nvSpPr>
        <p:spPr>
          <a:xfrm>
            <a:off x="8026478" y="4515954"/>
            <a:ext cx="1574797" cy="48756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9D3C4"/>
                </a:solidFill>
                <a:latin typeface="IBM Plex Sans" pitchFamily="34" charset="0"/>
                <a:ea typeface="IBM Plex Sans" pitchFamily="34" charset="-122"/>
                <a:cs typeface="IBM Plex Sans" pitchFamily="34" charset="-120"/>
              </a:rPr>
              <a:t>of fraudsters had a new meter</a:t>
            </a:r>
            <a:endParaRPr lang="en-US" sz="1300" dirty="0"/>
          </a:p>
        </p:txBody>
      </p:sp>
      <p:sp>
        <p:nvSpPr>
          <p:cNvPr id="10" name="Text 8"/>
          <p:cNvSpPr/>
          <p:nvPr/>
        </p:nvSpPr>
        <p:spPr>
          <a:xfrm>
            <a:off x="9919189" y="3502552"/>
            <a:ext cx="1396070" cy="584181"/>
          </a:xfrm>
          <a:prstGeom prst="rect">
            <a:avLst/>
          </a:prstGeom>
          <a:noFill/>
          <a:ln/>
        </p:spPr>
        <p:txBody>
          <a:bodyPr wrap="square" lIns="0" tIns="0" rIns="0" bIns="0" rtlCol="0" anchor="t">
            <a:normAutofit/>
          </a:bodyPr>
          <a:lstStyle/>
          <a:p>
            <a:pPr algn="ctr" indent="0" marL="0">
              <a:lnSpc>
                <a:spcPts val="4400"/>
              </a:lnSpc>
              <a:buNone/>
            </a:pPr>
            <a:r>
              <a:rPr lang="en-US" sz="4400" b="1" dirty="0">
                <a:solidFill>
                  <a:srgbClr val="F3ECDD"/>
                </a:solidFill>
                <a:latin typeface="Space Grotesk" pitchFamily="34" charset="0"/>
                <a:ea typeface="Space Grotesk" pitchFamily="34" charset="-122"/>
                <a:cs typeface="Space Grotesk" pitchFamily="34" charset="-120"/>
              </a:rPr>
              <a:t>19 %</a:t>
            </a:r>
            <a:endParaRPr lang="en-US" sz="4400" dirty="0"/>
          </a:p>
        </p:txBody>
      </p:sp>
      <p:sp>
        <p:nvSpPr>
          <p:cNvPr id="11" name="Shape 9"/>
          <p:cNvSpPr/>
          <p:nvPr/>
        </p:nvSpPr>
        <p:spPr>
          <a:xfrm>
            <a:off x="9982211" y="4162896"/>
            <a:ext cx="1269967" cy="482578"/>
          </a:xfrm>
          <a:prstGeom prst="rect">
            <a:avLst/>
          </a:prstGeom>
          <a:solidFill>
            <a:srgbClr val="A9AFD1"/>
          </a:solidFill>
          <a:ln/>
        </p:spPr>
      </p:sp>
      <p:sp>
        <p:nvSpPr>
          <p:cNvPr id="12" name="Text 10"/>
          <p:cNvSpPr/>
          <p:nvPr/>
        </p:nvSpPr>
        <p:spPr>
          <a:xfrm>
            <a:off x="9861083" y="4747037"/>
            <a:ext cx="1814739" cy="2564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9D3C4"/>
                </a:solidFill>
                <a:latin typeface="IBM Plex Sans" pitchFamily="34" charset="0"/>
                <a:ea typeface="IBM Plex Sans" pitchFamily="34" charset="-122"/>
                <a:cs typeface="IBM Plex Sans" pitchFamily="34" charset="-120"/>
              </a:rPr>
              <a:t>of honest customers</a:t>
            </a:r>
            <a:endParaRPr lang="en-US" sz="1300" dirty="0"/>
          </a:p>
        </p:txBody>
      </p:sp>
      <p:sp>
        <p:nvSpPr>
          <p:cNvPr id="13" name="Text 11"/>
          <p:cNvSpPr/>
          <p:nvPr/>
        </p:nvSpPr>
        <p:spPr>
          <a:xfrm>
            <a:off x="812750" y="5232093"/>
            <a:ext cx="10883467" cy="452124"/>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F3ECDD"/>
                </a:solidFill>
                <a:latin typeface="Space Grotesk" pitchFamily="34" charset="0"/>
                <a:ea typeface="Space Grotesk" pitchFamily="34" charset="-122"/>
                <a:cs typeface="Space Grotesk" pitchFamily="34" charset="-120"/>
              </a:rPr>
              <a:t>We removed it. Scores dropped – </a:t>
            </a:r>
            <a:r>
              <a:rPr lang="en-US" sz="2400" b="1" dirty="0">
                <a:solidFill>
                  <a:srgbClr val="E0742B"/>
                </a:solidFill>
                <a:latin typeface="Space Grotesk" pitchFamily="34" charset="0"/>
                <a:ea typeface="Space Grotesk" pitchFamily="34" charset="-122"/>
                <a:cs typeface="Space Grotesk" pitchFamily="34" charset="-120"/>
              </a:rPr>
              <a:t>and became honest.</a:t>
            </a:r>
            <a:endParaRPr lang="en-US" sz="2400" dirty="0"/>
          </a:p>
        </p:txBody>
      </p:sp>
      <p:sp>
        <p:nvSpPr>
          <p:cNvPr id="14" name="Text 12"/>
          <p:cNvSpPr/>
          <p:nvPr/>
        </p:nvSpPr>
        <p:spPr>
          <a:xfrm>
            <a:off x="812750" y="6238246"/>
            <a:ext cx="10883342"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FD1"/>
                </a:solidFill>
                <a:latin typeface="IBM Plex Sans" pitchFamily="34" charset="0"/>
                <a:ea typeface="IBM Plex Sans" pitchFamily="34" charset="-122"/>
                <a:cs typeface="IBM Plex Sans" pitchFamily="34" charset="-120"/>
              </a:rPr>
              <a:t>Target leakage: the model used information that only exists after the answer is known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ECDD"/>
        </a:solidFill>
      </p:bgPr>
    </p:bg>
    <p:spTree>
      <p:nvGrpSpPr>
        <p:cNvPr id="1" name=""/>
        <p:cNvGrpSpPr/>
        <p:nvPr/>
      </p:nvGrpSpPr>
      <p:grpSpPr>
        <a:xfrm>
          <a:off x="0" y="0"/>
          <a:ext cx="0" cy="0"/>
          <a:chOff x="0" y="0"/>
          <a:chExt cx="0" cy="0"/>
        </a:xfrm>
      </p:grpSpPr>
      <p:sp>
        <p:nvSpPr>
          <p:cNvPr id="2" name="Text 0"/>
          <p:cNvSpPr/>
          <p:nvPr/>
        </p:nvSpPr>
        <p:spPr>
          <a:xfrm>
            <a:off x="812750" y="1501232"/>
            <a:ext cx="4081362" cy="27435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E0742B"/>
                </a:solidFill>
                <a:latin typeface="IBM Plex Sans" pitchFamily="34" charset="0"/>
                <a:ea typeface="IBM Plex Sans" pitchFamily="34" charset="-122"/>
                <a:cs typeface="IBM Plex Sans" pitchFamily="34" charset="-120"/>
              </a:rPr>
              <a:t>04 OF 05 – THE MODELS: BASELINE</a:t>
            </a:r>
            <a:endParaRPr lang="en-US" sz="1400" dirty="0"/>
          </a:p>
        </p:txBody>
      </p:sp>
      <p:sp>
        <p:nvSpPr>
          <p:cNvPr id="3" name="Text 1"/>
          <p:cNvSpPr/>
          <p:nvPr>
            <p:ph type="title"/>
          </p:nvPr>
        </p:nvSpPr>
        <p:spPr>
          <a:xfrm>
            <a:off x="812750" y="1953378"/>
            <a:ext cx="4081362" cy="2372110"/>
          </a:xfrm>
          <a:prstGeom prst="rect">
            <a:avLst/>
          </a:prstGeom>
          <a:noFill/>
          <a:ln/>
        </p:spPr>
        <p:txBody>
          <a:bodyPr wrap="square" lIns="0" tIns="0" rIns="0" bIns="0" rtlCol="0" anchor="t">
            <a:normAutofit/>
          </a:bodyPr>
          <a:lstStyle/>
          <a:p>
            <a:pPr algn="l" indent="0" marL="0">
              <a:lnSpc>
                <a:spcPts val="4620"/>
              </a:lnSpc>
              <a:buNone/>
            </a:pPr>
            <a:r>
              <a:rPr lang="en-US" sz="4400" b="1" i="0" dirty="0">
                <a:solidFill>
                  <a:srgbClr val="1F2B6C"/>
                </a:solidFill>
                <a:latin typeface="Space Grotesk" pitchFamily="34" charset="0"/>
                <a:ea typeface="Space Grotesk" pitchFamily="34" charset="-122"/>
                <a:cs typeface="Space Grotesk" pitchFamily="34" charset="-120"/>
              </a:rPr>
              <a:t>Just consumption. Already </a:t>
            </a:r>
            <a:r>
              <a:rPr lang="en-US" sz="4400" b="1" i="0" dirty="0">
                <a:solidFill>
                  <a:srgbClr val="E0742B"/>
                </a:solidFill>
                <a:latin typeface="Space Grotesk" pitchFamily="34" charset="0"/>
                <a:ea typeface="Space Grotesk" pitchFamily="34" charset="-122"/>
                <a:cs typeface="Space Grotesk" pitchFamily="34" charset="-120"/>
              </a:rPr>
              <a:t>2.3×</a:t>
            </a:r>
            <a:r>
              <a:rPr lang="en-US" sz="4400" b="1" i="0" dirty="0">
                <a:solidFill>
                  <a:srgbClr val="1F2B6C"/>
                </a:solidFill>
                <a:latin typeface="Space Grotesk" pitchFamily="34" charset="0"/>
                <a:ea typeface="Space Grotesk" pitchFamily="34" charset="-122"/>
                <a:cs typeface="Space Grotesk" pitchFamily="34" charset="-120"/>
              </a:rPr>
              <a:t> better.</a:t>
            </a:r>
            <a:endParaRPr lang="en-US" sz="4400" dirty="0"/>
          </a:p>
        </p:txBody>
      </p:sp>
      <p:sp>
        <p:nvSpPr>
          <p:cNvPr id="4" name="Text 2"/>
          <p:cNvSpPr/>
          <p:nvPr/>
        </p:nvSpPr>
        <p:spPr>
          <a:xfrm>
            <a:off x="812750" y="4503276"/>
            <a:ext cx="4081362" cy="87878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3F5C"/>
                </a:solidFill>
                <a:latin typeface="IBM Plex Sans" pitchFamily="34" charset="0"/>
                <a:ea typeface="IBM Plex Sans" pitchFamily="34" charset="-122"/>
                <a:cs typeface="IBM Plex Sans" pitchFamily="34" charset="-120"/>
              </a:rPr>
              <a:t>A simple </a:t>
            </a:r>
            <a:r>
              <a:rPr lang="en-US" sz="1600" b="1" dirty="0">
                <a:solidFill>
                  <a:srgbClr val="3A3F5C"/>
                </a:solidFill>
                <a:latin typeface="IBM Plex Sans" pitchFamily="34" charset="0"/>
                <a:ea typeface="IBM Plex Sans" pitchFamily="34" charset="-122"/>
                <a:cs typeface="IBM Plex Sans" pitchFamily="34" charset="-120"/>
              </a:rPr>
              <a:t>Logistic Regression</a:t>
            </a:r>
            <a:r>
              <a:rPr lang="en-US" sz="1600" dirty="0">
                <a:solidFill>
                  <a:srgbClr val="3A3F5C"/>
                </a:solidFill>
                <a:latin typeface="IBM Plex Sans" pitchFamily="34" charset="0"/>
                <a:ea typeface="IBM Plex Sans" pitchFamily="34" charset="-122"/>
                <a:cs typeface="IBM Plex Sans" pitchFamily="34" charset="-120"/>
              </a:rPr>
              <a:t> on how much each customer uses – the score every model has to beat.</a:t>
            </a:r>
            <a:endParaRPr lang="en-US" sz="1600" dirty="0"/>
          </a:p>
        </p:txBody>
      </p:sp>
      <p:sp>
        <p:nvSpPr>
          <p:cNvPr id="5" name="Shape 3"/>
          <p:cNvSpPr/>
          <p:nvPr/>
        </p:nvSpPr>
        <p:spPr>
          <a:xfrm>
            <a:off x="5587988" y="0"/>
            <a:ext cx="6603985" cy="6857954"/>
          </a:xfrm>
          <a:prstGeom prst="rect">
            <a:avLst/>
          </a:prstGeom>
          <a:solidFill>
            <a:srgbClr val="FBF7EE"/>
          </a:solidFill>
          <a:ln/>
        </p:spPr>
      </p:sp>
      <p:sp>
        <p:nvSpPr>
          <p:cNvPr id="6" name="Text 4"/>
          <p:cNvSpPr/>
          <p:nvPr/>
        </p:nvSpPr>
        <p:spPr>
          <a:xfrm>
            <a:off x="6887252" y="3345197"/>
            <a:ext cx="1592507" cy="736586"/>
          </a:xfrm>
          <a:prstGeom prst="rect">
            <a:avLst/>
          </a:prstGeom>
          <a:noFill/>
          <a:ln/>
        </p:spPr>
        <p:txBody>
          <a:bodyPr wrap="square" lIns="0" tIns="0" rIns="0" bIns="0" rtlCol="0" anchor="t">
            <a:normAutofit/>
          </a:bodyPr>
          <a:lstStyle/>
          <a:p>
            <a:pPr algn="ctr" indent="0" marL="0">
              <a:lnSpc>
                <a:spcPts val="5600"/>
              </a:lnSpc>
              <a:buNone/>
            </a:pPr>
            <a:r>
              <a:rPr lang="en-US" sz="5600" b="1" dirty="0">
                <a:solidFill>
                  <a:srgbClr val="6B6E85"/>
                </a:solidFill>
                <a:latin typeface="Space Grotesk" pitchFamily="34" charset="0"/>
                <a:ea typeface="Space Grotesk" pitchFamily="34" charset="-122"/>
                <a:cs typeface="Space Grotesk" pitchFamily="34" charset="-120"/>
              </a:rPr>
              <a:t>560</a:t>
            </a:r>
            <a:endParaRPr lang="en-US" sz="5600" dirty="0"/>
          </a:p>
        </p:txBody>
      </p:sp>
      <p:sp>
        <p:nvSpPr>
          <p:cNvPr id="7" name="Shape 5"/>
          <p:cNvSpPr/>
          <p:nvPr/>
        </p:nvSpPr>
        <p:spPr>
          <a:xfrm>
            <a:off x="6921477" y="4157945"/>
            <a:ext cx="1523997" cy="1333489"/>
          </a:xfrm>
          <a:prstGeom prst="rect">
            <a:avLst/>
          </a:prstGeom>
          <a:solidFill>
            <a:srgbClr val="A9AFD1"/>
          </a:solidFill>
          <a:ln/>
        </p:spPr>
      </p:sp>
      <p:sp>
        <p:nvSpPr>
          <p:cNvPr id="8" name="Text 6"/>
          <p:cNvSpPr/>
          <p:nvPr/>
        </p:nvSpPr>
        <p:spPr>
          <a:xfrm>
            <a:off x="7015577" y="5593001"/>
            <a:ext cx="1335856" cy="274357"/>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6B6E85"/>
                </a:solidFill>
                <a:latin typeface="IBM Plex Sans" pitchFamily="34" charset="0"/>
                <a:ea typeface="IBM Plex Sans" pitchFamily="34" charset="-122"/>
                <a:cs typeface="IBM Plex Sans" pitchFamily="34" charset="-120"/>
              </a:rPr>
              <a:t>random visits</a:t>
            </a:r>
            <a:endParaRPr lang="en-US" sz="1400" dirty="0"/>
          </a:p>
        </p:txBody>
      </p:sp>
      <p:sp>
        <p:nvSpPr>
          <p:cNvPr id="9" name="Text 7"/>
          <p:cNvSpPr/>
          <p:nvPr/>
        </p:nvSpPr>
        <p:spPr>
          <a:xfrm>
            <a:off x="8992105" y="1630694"/>
            <a:ext cx="2208699" cy="736586"/>
          </a:xfrm>
          <a:prstGeom prst="rect">
            <a:avLst/>
          </a:prstGeom>
          <a:noFill/>
          <a:ln/>
        </p:spPr>
        <p:txBody>
          <a:bodyPr wrap="square" lIns="0" tIns="0" rIns="0" bIns="0" rtlCol="0" anchor="t">
            <a:normAutofit/>
          </a:bodyPr>
          <a:lstStyle/>
          <a:p>
            <a:pPr algn="ctr" indent="0" marL="0">
              <a:lnSpc>
                <a:spcPts val="5600"/>
              </a:lnSpc>
              <a:buNone/>
            </a:pPr>
            <a:r>
              <a:rPr lang="en-US" sz="5600" b="1" dirty="0">
                <a:solidFill>
                  <a:srgbClr val="E0742B"/>
                </a:solidFill>
                <a:latin typeface="Space Grotesk" pitchFamily="34" charset="0"/>
                <a:ea typeface="Space Grotesk" pitchFamily="34" charset="-122"/>
                <a:cs typeface="Space Grotesk" pitchFamily="34" charset="-120"/>
              </a:rPr>
              <a:t>1,280</a:t>
            </a:r>
            <a:endParaRPr lang="en-US" sz="5600" dirty="0"/>
          </a:p>
        </p:txBody>
      </p:sp>
      <p:sp>
        <p:nvSpPr>
          <p:cNvPr id="10" name="Shape 8"/>
          <p:cNvSpPr/>
          <p:nvPr/>
        </p:nvSpPr>
        <p:spPr>
          <a:xfrm>
            <a:off x="9334426" y="2443442"/>
            <a:ext cx="1523997" cy="3047993"/>
          </a:xfrm>
          <a:prstGeom prst="rect">
            <a:avLst/>
          </a:prstGeom>
          <a:solidFill>
            <a:srgbClr val="1F2B6C"/>
          </a:solidFill>
          <a:ln/>
        </p:spPr>
      </p:sp>
      <p:sp>
        <p:nvSpPr>
          <p:cNvPr id="11" name="Text 9"/>
          <p:cNvSpPr/>
          <p:nvPr/>
        </p:nvSpPr>
        <p:spPr>
          <a:xfrm>
            <a:off x="9289629" y="5593001"/>
            <a:ext cx="1613592" cy="274357"/>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F2B6C"/>
                </a:solidFill>
                <a:latin typeface="IBM Plex Sans" pitchFamily="34" charset="0"/>
                <a:ea typeface="IBM Plex Sans" pitchFamily="34" charset="-122"/>
                <a:cs typeface="IBM Plex Sans" pitchFamily="34" charset="-120"/>
              </a:rPr>
              <a:t>baseline priority</a:t>
            </a:r>
            <a:endParaRPr lang="en-US" sz="1400" dirty="0"/>
          </a:p>
        </p:txBody>
      </p:sp>
      <p:sp>
        <p:nvSpPr>
          <p:cNvPr id="12" name="Text 10"/>
          <p:cNvSpPr/>
          <p:nvPr/>
        </p:nvSpPr>
        <p:spPr>
          <a:xfrm>
            <a:off x="812750" y="6238246"/>
            <a:ext cx="10883342"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5"/>
                </a:solidFill>
                <a:latin typeface="IBM Plex Sans" pitchFamily="34" charset="0"/>
                <a:ea typeface="IBM Plex Sans" pitchFamily="34" charset="-122"/>
                <a:cs typeface="IBM Plex Sans" pitchFamily="34" charset="-120"/>
              </a:rPr>
              <a:t>Fraudsters found per 10,000 inspections (example budget) · 5-fold CV on the training part · ROC-AUC 0.663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ECDD"/>
        </a:solidFill>
      </p:bgPr>
    </p:bg>
    <p:spTree>
      <p:nvGrpSpPr>
        <p:cNvPr id="1" name=""/>
        <p:cNvGrpSpPr/>
        <p:nvPr/>
      </p:nvGrpSpPr>
      <p:grpSpPr>
        <a:xfrm>
          <a:off x="0" y="0"/>
          <a:ext cx="0" cy="0"/>
          <a:chOff x="0" y="0"/>
          <a:chExt cx="0" cy="0"/>
        </a:xfrm>
      </p:grpSpPr>
      <p:sp>
        <p:nvSpPr>
          <p:cNvPr id="2" name="Shape 0"/>
          <p:cNvSpPr/>
          <p:nvPr/>
        </p:nvSpPr>
        <p:spPr>
          <a:xfrm>
            <a:off x="0" y="0"/>
            <a:ext cx="4063991" cy="6857954"/>
          </a:xfrm>
          <a:prstGeom prst="rect">
            <a:avLst/>
          </a:prstGeom>
          <a:solidFill>
            <a:srgbClr val="1F2B6C"/>
          </a:solidFill>
          <a:ln/>
        </p:spPr>
      </p:sp>
      <p:sp>
        <p:nvSpPr>
          <p:cNvPr id="3" name="Text 1"/>
          <p:cNvSpPr/>
          <p:nvPr/>
        </p:nvSpPr>
        <p:spPr>
          <a:xfrm>
            <a:off x="812750" y="1219188"/>
            <a:ext cx="2982517" cy="635023"/>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E0742B"/>
                </a:solidFill>
                <a:latin typeface="Space Grotesk" pitchFamily="34" charset="0"/>
                <a:ea typeface="Space Grotesk" pitchFamily="34" charset="-122"/>
                <a:cs typeface="Space Grotesk" pitchFamily="34" charset="-120"/>
              </a:rPr>
              <a:t>2nd</a:t>
            </a:r>
            <a:endParaRPr lang="en-US" sz="4800" dirty="0"/>
          </a:p>
        </p:txBody>
      </p:sp>
      <p:sp>
        <p:nvSpPr>
          <p:cNvPr id="4" name="Text 2"/>
          <p:cNvSpPr/>
          <p:nvPr/>
        </p:nvSpPr>
        <p:spPr>
          <a:xfrm>
            <a:off x="812750" y="1879594"/>
            <a:ext cx="2982517" cy="27435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A9AFD1"/>
                </a:solidFill>
                <a:latin typeface="IBM Plex Sans" pitchFamily="34" charset="0"/>
                <a:ea typeface="IBM Plex Sans" pitchFamily="34" charset="-122"/>
                <a:cs typeface="IBM Plex Sans" pitchFamily="34" charset="-120"/>
              </a:rPr>
              <a:t>LUCA</a:t>
            </a:r>
            <a:endParaRPr lang="en-US" sz="1400" dirty="0"/>
          </a:p>
        </p:txBody>
      </p:sp>
      <p:sp>
        <p:nvSpPr>
          <p:cNvPr id="5" name="Text 3"/>
          <p:cNvSpPr/>
          <p:nvPr/>
        </p:nvSpPr>
        <p:spPr>
          <a:xfrm>
            <a:off x="812750" y="2457394"/>
            <a:ext cx="2982517" cy="513050"/>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F3ECDD"/>
                </a:solidFill>
                <a:latin typeface="Space Grotesk" pitchFamily="34" charset="0"/>
                <a:ea typeface="Space Grotesk" pitchFamily="34" charset="-122"/>
                <a:cs typeface="Space Grotesk" pitchFamily="34" charset="-120"/>
              </a:rPr>
              <a:t>XGBoost</a:t>
            </a:r>
            <a:endParaRPr lang="en-US" sz="3200" dirty="0"/>
          </a:p>
        </p:txBody>
      </p:sp>
      <p:sp>
        <p:nvSpPr>
          <p:cNvPr id="6" name="Text 4"/>
          <p:cNvSpPr/>
          <p:nvPr/>
        </p:nvSpPr>
        <p:spPr>
          <a:xfrm>
            <a:off x="812750" y="3046605"/>
            <a:ext cx="2982517" cy="102123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9D3C4"/>
                </a:solidFill>
                <a:latin typeface="IBM Plex Sans" pitchFamily="34" charset="0"/>
                <a:ea typeface="IBM Plex Sans" pitchFamily="34" charset="-122"/>
                <a:cs typeface="IBM Plex Sans" pitchFamily="34" charset="-120"/>
              </a:rPr>
              <a:t>Boosted trees tuned to catch as many fraudsters as possible (F2) – now also with meter codes, like Mohamed.</a:t>
            </a:r>
            <a:endParaRPr lang="en-US" sz="1400" dirty="0"/>
          </a:p>
        </p:txBody>
      </p:sp>
      <p:sp>
        <p:nvSpPr>
          <p:cNvPr id="7" name="Text 5"/>
          <p:cNvSpPr/>
          <p:nvPr/>
        </p:nvSpPr>
        <p:spPr>
          <a:xfrm>
            <a:off x="812750" y="4371280"/>
            <a:ext cx="2982517" cy="220979"/>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A9AFD1"/>
                </a:solidFill>
                <a:latin typeface="IBM Plex Sans" pitchFamily="34" charset="0"/>
                <a:ea typeface="IBM Plex Sans" pitchFamily="34" charset="-122"/>
                <a:cs typeface="IBM Plex Sans" pitchFamily="34" charset="-120"/>
              </a:rPr>
              <a:t>AUC (CROSS-VALIDATION)</a:t>
            </a:r>
            <a:endParaRPr lang="en-US" sz="1100" dirty="0"/>
          </a:p>
        </p:txBody>
      </p:sp>
      <p:sp>
        <p:nvSpPr>
          <p:cNvPr id="8" name="Text 6"/>
          <p:cNvSpPr/>
          <p:nvPr/>
        </p:nvSpPr>
        <p:spPr>
          <a:xfrm>
            <a:off x="812750" y="4643003"/>
            <a:ext cx="2982517" cy="736586"/>
          </a:xfrm>
          <a:prstGeom prst="rect">
            <a:avLst/>
          </a:prstGeom>
          <a:noFill/>
          <a:ln/>
        </p:spPr>
        <p:txBody>
          <a:bodyPr wrap="square" lIns="0" tIns="0" rIns="0" bIns="0" rtlCol="0" anchor="t">
            <a:normAutofit/>
          </a:bodyPr>
          <a:lstStyle/>
          <a:p>
            <a:pPr algn="l" indent="0" marL="0">
              <a:lnSpc>
                <a:spcPts val="5600"/>
              </a:lnSpc>
              <a:buNone/>
            </a:pPr>
            <a:r>
              <a:rPr lang="en-US" sz="5600" b="1" dirty="0">
                <a:solidFill>
                  <a:srgbClr val="F3ECDD"/>
                </a:solidFill>
                <a:latin typeface="Space Grotesk" pitchFamily="34" charset="0"/>
                <a:ea typeface="Space Grotesk" pitchFamily="34" charset="-122"/>
                <a:cs typeface="Space Grotesk" pitchFamily="34" charset="-120"/>
              </a:rPr>
              <a:t>0.791</a:t>
            </a:r>
            <a:endParaRPr lang="en-US" sz="5600" dirty="0"/>
          </a:p>
        </p:txBody>
      </p:sp>
      <p:sp>
        <p:nvSpPr>
          <p:cNvPr id="9" name="Shape 7"/>
          <p:cNvSpPr/>
          <p:nvPr/>
        </p:nvSpPr>
        <p:spPr>
          <a:xfrm>
            <a:off x="812750" y="5439854"/>
            <a:ext cx="2895648" cy="0"/>
          </a:xfrm>
          <a:prstGeom prst="line">
            <a:avLst/>
          </a:prstGeom>
          <a:noFill/>
          <a:ln w="19050">
            <a:solidFill>
              <a:srgbClr val="A9AFD1"/>
            </a:solidFill>
            <a:prstDash val="solid"/>
          </a:ln>
        </p:spPr>
      </p:sp>
      <p:sp>
        <p:nvSpPr>
          <p:cNvPr id="10" name="Text 8"/>
          <p:cNvSpPr/>
          <p:nvPr/>
        </p:nvSpPr>
        <p:spPr>
          <a:xfrm>
            <a:off x="812750" y="5521933"/>
            <a:ext cx="1836144" cy="34542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3ECDD"/>
                </a:solidFill>
                <a:latin typeface="IBM Plex Sans" pitchFamily="34" charset="0"/>
                <a:ea typeface="IBM Plex Sans" pitchFamily="34" charset="-122"/>
                <a:cs typeface="IBM Plex Sans" pitchFamily="34" charset="-120"/>
              </a:rPr>
              <a:t>Fraudsters / 10,000*</a:t>
            </a:r>
            <a:endParaRPr lang="en-US" sz="1300" dirty="0"/>
          </a:p>
        </p:txBody>
      </p:sp>
      <p:sp>
        <p:nvSpPr>
          <p:cNvPr id="11" name="Text 9"/>
          <p:cNvSpPr/>
          <p:nvPr/>
        </p:nvSpPr>
        <p:spPr>
          <a:xfrm>
            <a:off x="2779906" y="5521933"/>
            <a:ext cx="928491" cy="345428"/>
          </a:xfrm>
          <a:prstGeom prst="rect">
            <a:avLst/>
          </a:prstGeom>
          <a:noFill/>
          <a:ln/>
        </p:spPr>
        <p:txBody>
          <a:bodyPr wrap="square" lIns="0" tIns="0" rIns="0" bIns="0" rtlCol="0" anchor="t">
            <a:normAutofit/>
          </a:bodyPr>
          <a:lstStyle/>
          <a:p>
            <a:pPr algn="r" indent="0" marL="0">
              <a:lnSpc>
                <a:spcPts val="2520"/>
              </a:lnSpc>
              <a:buNone/>
            </a:pPr>
            <a:r>
              <a:rPr lang="en-US" sz="1800" b="1" dirty="0">
                <a:solidFill>
                  <a:srgbClr val="F3ECDD"/>
                </a:solidFill>
                <a:latin typeface="Space Grotesk" pitchFamily="34" charset="0"/>
                <a:ea typeface="Space Grotesk" pitchFamily="34" charset="-122"/>
                <a:cs typeface="Space Grotesk" pitchFamily="34" charset="-120"/>
              </a:rPr>
              <a:t>≈ 2,210</a:t>
            </a:r>
            <a:endParaRPr lang="en-US" sz="1800" dirty="0"/>
          </a:p>
        </p:txBody>
      </p:sp>
      <p:sp>
        <p:nvSpPr>
          <p:cNvPr id="12" name="Shape 10"/>
          <p:cNvSpPr/>
          <p:nvPr/>
        </p:nvSpPr>
        <p:spPr>
          <a:xfrm>
            <a:off x="4063991" y="0"/>
            <a:ext cx="4063991" cy="6857954"/>
          </a:xfrm>
          <a:prstGeom prst="rect">
            <a:avLst/>
          </a:prstGeom>
          <a:solidFill>
            <a:srgbClr val="E0742B"/>
          </a:solidFill>
          <a:ln/>
        </p:spPr>
      </p:sp>
      <p:sp>
        <p:nvSpPr>
          <p:cNvPr id="13" name="Text 11"/>
          <p:cNvSpPr/>
          <p:nvPr/>
        </p:nvSpPr>
        <p:spPr>
          <a:xfrm>
            <a:off x="4470366" y="812750"/>
            <a:ext cx="3348778" cy="635023"/>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F2B6C"/>
                </a:solidFill>
                <a:latin typeface="Space Grotesk" pitchFamily="34" charset="0"/>
                <a:ea typeface="Space Grotesk" pitchFamily="34" charset="-122"/>
                <a:cs typeface="Space Grotesk" pitchFamily="34" charset="-120"/>
              </a:rPr>
              <a:t>1st</a:t>
            </a:r>
            <a:endParaRPr lang="en-US" sz="4800" dirty="0"/>
          </a:p>
        </p:txBody>
      </p:sp>
      <p:sp>
        <p:nvSpPr>
          <p:cNvPr id="14" name="Text 12"/>
          <p:cNvSpPr/>
          <p:nvPr/>
        </p:nvSpPr>
        <p:spPr>
          <a:xfrm>
            <a:off x="4470366" y="1473157"/>
            <a:ext cx="3348778" cy="27435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1F2B6C"/>
                </a:solidFill>
                <a:latin typeface="IBM Plex Sans" pitchFamily="34" charset="0"/>
                <a:ea typeface="IBM Plex Sans" pitchFamily="34" charset="-122"/>
                <a:cs typeface="IBM Plex Sans" pitchFamily="34" charset="-120"/>
              </a:rPr>
              <a:t>MOHAMED</a:t>
            </a:r>
            <a:endParaRPr lang="en-US" sz="1400" dirty="0"/>
          </a:p>
        </p:txBody>
      </p:sp>
      <p:sp>
        <p:nvSpPr>
          <p:cNvPr id="15" name="Text 13"/>
          <p:cNvSpPr/>
          <p:nvPr/>
        </p:nvSpPr>
        <p:spPr>
          <a:xfrm>
            <a:off x="4470366" y="2312653"/>
            <a:ext cx="3348778" cy="513050"/>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1F2B6C"/>
                </a:solidFill>
                <a:latin typeface="Space Grotesk" pitchFamily="34" charset="0"/>
                <a:ea typeface="Space Grotesk" pitchFamily="34" charset="-122"/>
                <a:cs typeface="Space Grotesk" pitchFamily="34" charset="-120"/>
              </a:rPr>
              <a:t>LightGBM</a:t>
            </a:r>
            <a:endParaRPr lang="en-US" sz="3200" dirty="0"/>
          </a:p>
        </p:txBody>
      </p:sp>
      <p:sp>
        <p:nvSpPr>
          <p:cNvPr id="16" name="Text 14"/>
          <p:cNvSpPr/>
          <p:nvPr/>
        </p:nvSpPr>
        <p:spPr>
          <a:xfrm>
            <a:off x="4470366" y="2901869"/>
            <a:ext cx="3348778" cy="523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B6C"/>
                </a:solidFill>
                <a:latin typeface="IBM Plex Sans" pitchFamily="34" charset="0"/>
                <a:ea typeface="IBM Plex Sans" pitchFamily="34" charset="-122"/>
                <a:cs typeface="IBM Plex Sans" pitchFamily="34" charset="-120"/>
              </a:rPr>
              <a:t>Boosted trees with location and 30+ new invoice features, tuned.</a:t>
            </a:r>
            <a:endParaRPr lang="en-US" sz="1400" dirty="0"/>
          </a:p>
        </p:txBody>
      </p:sp>
      <p:sp>
        <p:nvSpPr>
          <p:cNvPr id="17" name="Text 15"/>
          <p:cNvSpPr/>
          <p:nvPr/>
        </p:nvSpPr>
        <p:spPr>
          <a:xfrm>
            <a:off x="4470366" y="3990324"/>
            <a:ext cx="3348778" cy="220979"/>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1F2B6C"/>
                </a:solidFill>
                <a:latin typeface="IBM Plex Sans" pitchFamily="34" charset="0"/>
                <a:ea typeface="IBM Plex Sans" pitchFamily="34" charset="-122"/>
                <a:cs typeface="IBM Plex Sans" pitchFamily="34" charset="-120"/>
              </a:rPr>
              <a:t>AUC (CROSS-VALIDATION)</a:t>
            </a:r>
            <a:endParaRPr lang="en-US" sz="1100" dirty="0"/>
          </a:p>
        </p:txBody>
      </p:sp>
      <p:sp>
        <p:nvSpPr>
          <p:cNvPr id="18" name="Text 16"/>
          <p:cNvSpPr/>
          <p:nvPr/>
        </p:nvSpPr>
        <p:spPr>
          <a:xfrm>
            <a:off x="4470366" y="4262047"/>
            <a:ext cx="1978919" cy="736586"/>
          </a:xfrm>
          <a:prstGeom prst="rect">
            <a:avLst/>
          </a:prstGeom>
          <a:noFill/>
          <a:ln/>
        </p:spPr>
        <p:txBody>
          <a:bodyPr wrap="square" lIns="0" tIns="0" rIns="0" bIns="0" rtlCol="0" anchor="t">
            <a:normAutofit/>
          </a:bodyPr>
          <a:lstStyle/>
          <a:p>
            <a:pPr algn="l" indent="0" marL="0">
              <a:lnSpc>
                <a:spcPts val="5600"/>
              </a:lnSpc>
              <a:buNone/>
            </a:pPr>
            <a:r>
              <a:rPr lang="en-US" sz="5600" b="1" dirty="0">
                <a:solidFill>
                  <a:srgbClr val="1F2B6C"/>
                </a:solidFill>
                <a:latin typeface="Space Grotesk" pitchFamily="34" charset="0"/>
                <a:ea typeface="Space Grotesk" pitchFamily="34" charset="-122"/>
                <a:cs typeface="Space Grotesk" pitchFamily="34" charset="-120"/>
              </a:rPr>
              <a:t>0.819</a:t>
            </a:r>
            <a:endParaRPr lang="en-US" sz="5600" dirty="0"/>
          </a:p>
        </p:txBody>
      </p:sp>
      <p:sp>
        <p:nvSpPr>
          <p:cNvPr id="19" name="Text 17"/>
          <p:cNvSpPr/>
          <p:nvPr/>
        </p:nvSpPr>
        <p:spPr>
          <a:xfrm>
            <a:off x="6449285" y="4687143"/>
            <a:ext cx="1074569" cy="25648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B6C"/>
                </a:solidFill>
                <a:latin typeface="IBM Plex Sans" pitchFamily="34" charset="0"/>
                <a:ea typeface="IBM Plex Sans" pitchFamily="34" charset="-122"/>
                <a:cs typeface="IBM Plex Sans" pitchFamily="34" charset="-120"/>
              </a:rPr>
              <a:t>after tuning</a:t>
            </a:r>
            <a:endParaRPr lang="en-US" sz="1300" dirty="0"/>
          </a:p>
        </p:txBody>
      </p:sp>
      <p:pic>
        <p:nvPicPr>
          <p:cNvPr id="20" name="Image 0" descr="arrow-up">    </p:cNvPr>
          <p:cNvPicPr>
            <a:picLocks noChangeAspect="1"/>
          </p:cNvPicPr>
          <p:nvPr/>
        </p:nvPicPr>
        <p:blipFill>
          <a:blip r:embed="rId1"/>
          <a:srcRect l="0" r="0" t="-3" b="-3"/>
          <a:stretch/>
        </p:blipFill>
        <p:spPr>
          <a:xfrm>
            <a:off x="4470366" y="5074797"/>
            <a:ext cx="177766" cy="253969"/>
          </a:xfrm>
          <a:prstGeom prst="rect">
            <a:avLst/>
          </a:prstGeom>
        </p:spPr>
      </p:pic>
      <p:sp>
        <p:nvSpPr>
          <p:cNvPr id="21" name="Text 18"/>
          <p:cNvSpPr/>
          <p:nvPr/>
        </p:nvSpPr>
        <p:spPr>
          <a:xfrm>
            <a:off x="4775117" y="5049379"/>
            <a:ext cx="906041" cy="330211"/>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1F2B6C"/>
                </a:solidFill>
                <a:latin typeface="Space Grotesk" pitchFamily="34" charset="0"/>
                <a:ea typeface="Space Grotesk" pitchFamily="34" charset="-122"/>
                <a:cs typeface="Space Grotesk" pitchFamily="34" charset="-120"/>
              </a:rPr>
              <a:t>0.747</a:t>
            </a:r>
            <a:endParaRPr lang="en-US" sz="2400" dirty="0"/>
          </a:p>
        </p:txBody>
      </p:sp>
      <p:sp>
        <p:nvSpPr>
          <p:cNvPr id="22" name="Text 19"/>
          <p:cNvSpPr/>
          <p:nvPr/>
        </p:nvSpPr>
        <p:spPr>
          <a:xfrm>
            <a:off x="5681158" y="5086207"/>
            <a:ext cx="973126" cy="25648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B6C"/>
                </a:solidFill>
                <a:latin typeface="IBM Plex Sans" pitchFamily="34" charset="0"/>
                <a:ea typeface="IBM Plex Sans" pitchFamily="34" charset="-122"/>
                <a:cs typeface="IBM Plex Sans" pitchFamily="34" charset="-120"/>
              </a:rPr>
              <a:t>at the start</a:t>
            </a:r>
            <a:endParaRPr lang="en-US" sz="1300" dirty="0"/>
          </a:p>
        </p:txBody>
      </p:sp>
      <p:sp>
        <p:nvSpPr>
          <p:cNvPr id="23" name="Shape 20"/>
          <p:cNvSpPr/>
          <p:nvPr/>
        </p:nvSpPr>
        <p:spPr>
          <a:xfrm>
            <a:off x="4470366" y="5439854"/>
            <a:ext cx="3251241" cy="0"/>
          </a:xfrm>
          <a:prstGeom prst="line">
            <a:avLst/>
          </a:prstGeom>
          <a:noFill/>
          <a:ln w="19050">
            <a:solidFill>
              <a:srgbClr val="1F2B6C"/>
            </a:solidFill>
            <a:prstDash val="solid"/>
          </a:ln>
        </p:spPr>
      </p:sp>
      <p:sp>
        <p:nvSpPr>
          <p:cNvPr id="24" name="Text 21"/>
          <p:cNvSpPr/>
          <p:nvPr/>
        </p:nvSpPr>
        <p:spPr>
          <a:xfrm>
            <a:off x="4470366" y="5521933"/>
            <a:ext cx="1860461" cy="34542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B6C"/>
                </a:solidFill>
                <a:latin typeface="IBM Plex Sans" pitchFamily="34" charset="0"/>
                <a:ea typeface="IBM Plex Sans" pitchFamily="34" charset="-122"/>
                <a:cs typeface="IBM Plex Sans" pitchFamily="34" charset="-120"/>
              </a:rPr>
              <a:t>Fraudsters / 10,000*</a:t>
            </a:r>
            <a:endParaRPr lang="en-US" sz="1300" dirty="0"/>
          </a:p>
        </p:txBody>
      </p:sp>
      <p:sp>
        <p:nvSpPr>
          <p:cNvPr id="25" name="Text 22"/>
          <p:cNvSpPr/>
          <p:nvPr/>
        </p:nvSpPr>
        <p:spPr>
          <a:xfrm>
            <a:off x="6741018" y="5521933"/>
            <a:ext cx="980589" cy="345428"/>
          </a:xfrm>
          <a:prstGeom prst="rect">
            <a:avLst/>
          </a:prstGeom>
          <a:noFill/>
          <a:ln/>
        </p:spPr>
        <p:txBody>
          <a:bodyPr wrap="square" lIns="0" tIns="0" rIns="0" bIns="0" rtlCol="0" anchor="t">
            <a:normAutofit/>
          </a:bodyPr>
          <a:lstStyle/>
          <a:p>
            <a:pPr algn="r" indent="0" marL="0">
              <a:lnSpc>
                <a:spcPts val="2520"/>
              </a:lnSpc>
              <a:buNone/>
            </a:pPr>
            <a:r>
              <a:rPr lang="en-US" sz="1800" b="1" dirty="0">
                <a:solidFill>
                  <a:srgbClr val="1F2B6C"/>
                </a:solidFill>
                <a:latin typeface="Space Grotesk" pitchFamily="34" charset="0"/>
                <a:ea typeface="Space Grotesk" pitchFamily="34" charset="-122"/>
                <a:cs typeface="Space Grotesk" pitchFamily="34" charset="-120"/>
              </a:rPr>
              <a:t>≈ 2,450</a:t>
            </a:r>
            <a:endParaRPr lang="en-US" sz="1800" dirty="0"/>
          </a:p>
        </p:txBody>
      </p:sp>
      <p:sp>
        <p:nvSpPr>
          <p:cNvPr id="26" name="Shape 23"/>
          <p:cNvSpPr/>
          <p:nvPr/>
        </p:nvSpPr>
        <p:spPr>
          <a:xfrm>
            <a:off x="8127981" y="0"/>
            <a:ext cx="4063991" cy="6857954"/>
          </a:xfrm>
          <a:prstGeom prst="rect">
            <a:avLst/>
          </a:prstGeom>
          <a:solidFill>
            <a:srgbClr val="A9AFD1"/>
          </a:solidFill>
          <a:ln/>
        </p:spPr>
      </p:sp>
      <p:sp>
        <p:nvSpPr>
          <p:cNvPr id="27" name="Text 24"/>
          <p:cNvSpPr/>
          <p:nvPr/>
        </p:nvSpPr>
        <p:spPr>
          <a:xfrm>
            <a:off x="8483575" y="1625563"/>
            <a:ext cx="2982517" cy="635023"/>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F2B6C"/>
                </a:solidFill>
                <a:latin typeface="Space Grotesk" pitchFamily="34" charset="0"/>
                <a:ea typeface="Space Grotesk" pitchFamily="34" charset="-122"/>
                <a:cs typeface="Space Grotesk" pitchFamily="34" charset="-120"/>
              </a:rPr>
              <a:t>3rd</a:t>
            </a:r>
            <a:endParaRPr lang="en-US" sz="4800" dirty="0"/>
          </a:p>
        </p:txBody>
      </p:sp>
      <p:sp>
        <p:nvSpPr>
          <p:cNvPr id="28" name="Text 25"/>
          <p:cNvSpPr/>
          <p:nvPr/>
        </p:nvSpPr>
        <p:spPr>
          <a:xfrm>
            <a:off x="8483575" y="2285963"/>
            <a:ext cx="2982517" cy="27435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1F2B6C"/>
                </a:solidFill>
                <a:latin typeface="IBM Plex Sans" pitchFamily="34" charset="0"/>
                <a:ea typeface="IBM Plex Sans" pitchFamily="34" charset="-122"/>
                <a:cs typeface="IBM Plex Sans" pitchFamily="34" charset="-120"/>
              </a:rPr>
              <a:t>HADI</a:t>
            </a:r>
            <a:endParaRPr lang="en-US" sz="1400" dirty="0"/>
          </a:p>
        </p:txBody>
      </p:sp>
      <p:sp>
        <p:nvSpPr>
          <p:cNvPr id="29" name="Text 26"/>
          <p:cNvSpPr/>
          <p:nvPr/>
        </p:nvSpPr>
        <p:spPr>
          <a:xfrm>
            <a:off x="8483575" y="2785089"/>
            <a:ext cx="2982517" cy="513050"/>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1F2B6C"/>
                </a:solidFill>
                <a:latin typeface="Space Grotesk" pitchFamily="34" charset="0"/>
                <a:ea typeface="Space Grotesk" pitchFamily="34" charset="-122"/>
                <a:cs typeface="Space Grotesk" pitchFamily="34" charset="-120"/>
              </a:rPr>
              <a:t>Ensemble</a:t>
            </a:r>
            <a:endParaRPr lang="en-US" sz="3200" dirty="0"/>
          </a:p>
        </p:txBody>
      </p:sp>
      <p:sp>
        <p:nvSpPr>
          <p:cNvPr id="30" name="Text 27"/>
          <p:cNvSpPr/>
          <p:nvPr/>
        </p:nvSpPr>
        <p:spPr>
          <a:xfrm>
            <a:off x="8483575" y="3374299"/>
            <a:ext cx="2982517" cy="77227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B6C"/>
                </a:solidFill>
                <a:latin typeface="IBM Plex Sans" pitchFamily="34" charset="0"/>
                <a:ea typeface="IBM Plex Sans" pitchFamily="34" charset="-122"/>
                <a:cs typeface="IBM Plex Sans" pitchFamily="34" charset="-120"/>
              </a:rPr>
              <a:t>Five models voting together: boosting, random forest, tree, KNN, logistic regression.</a:t>
            </a:r>
            <a:endParaRPr lang="en-US" sz="1400" dirty="0"/>
          </a:p>
        </p:txBody>
      </p:sp>
      <p:sp>
        <p:nvSpPr>
          <p:cNvPr id="31" name="Text 28"/>
          <p:cNvSpPr/>
          <p:nvPr/>
        </p:nvSpPr>
        <p:spPr>
          <a:xfrm>
            <a:off x="8483575" y="4371280"/>
            <a:ext cx="2982517" cy="220979"/>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1F2B6C"/>
                </a:solidFill>
                <a:latin typeface="IBM Plex Sans" pitchFamily="34" charset="0"/>
                <a:ea typeface="IBM Plex Sans" pitchFamily="34" charset="-122"/>
                <a:cs typeface="IBM Plex Sans" pitchFamily="34" charset="-120"/>
              </a:rPr>
              <a:t>AUC (CROSS-VALIDATION)</a:t>
            </a:r>
            <a:endParaRPr lang="en-US" sz="1100" dirty="0"/>
          </a:p>
        </p:txBody>
      </p:sp>
      <p:sp>
        <p:nvSpPr>
          <p:cNvPr id="32" name="Text 29"/>
          <p:cNvSpPr/>
          <p:nvPr/>
        </p:nvSpPr>
        <p:spPr>
          <a:xfrm>
            <a:off x="8483575" y="4643003"/>
            <a:ext cx="2982517" cy="736586"/>
          </a:xfrm>
          <a:prstGeom prst="rect">
            <a:avLst/>
          </a:prstGeom>
          <a:noFill/>
          <a:ln/>
        </p:spPr>
        <p:txBody>
          <a:bodyPr wrap="square" lIns="0" tIns="0" rIns="0" bIns="0" rtlCol="0" anchor="t">
            <a:normAutofit/>
          </a:bodyPr>
          <a:lstStyle/>
          <a:p>
            <a:pPr algn="l" indent="0" marL="0">
              <a:lnSpc>
                <a:spcPts val="5600"/>
              </a:lnSpc>
              <a:buNone/>
            </a:pPr>
            <a:r>
              <a:rPr lang="en-US" sz="5600" b="1" dirty="0">
                <a:solidFill>
                  <a:srgbClr val="1F2B6C"/>
                </a:solidFill>
                <a:latin typeface="Space Grotesk" pitchFamily="34" charset="0"/>
                <a:ea typeface="Space Grotesk" pitchFamily="34" charset="-122"/>
                <a:cs typeface="Space Grotesk" pitchFamily="34" charset="-120"/>
              </a:rPr>
              <a:t>0.70</a:t>
            </a:r>
            <a:endParaRPr lang="en-US" sz="5600" dirty="0"/>
          </a:p>
        </p:txBody>
      </p:sp>
      <p:sp>
        <p:nvSpPr>
          <p:cNvPr id="33" name="Shape 30"/>
          <p:cNvSpPr/>
          <p:nvPr/>
        </p:nvSpPr>
        <p:spPr>
          <a:xfrm>
            <a:off x="8483575" y="5439854"/>
            <a:ext cx="2895648" cy="0"/>
          </a:xfrm>
          <a:prstGeom prst="line">
            <a:avLst/>
          </a:prstGeom>
          <a:noFill/>
          <a:ln w="19050">
            <a:solidFill>
              <a:srgbClr val="1F2B6C"/>
            </a:solidFill>
            <a:prstDash val="solid"/>
          </a:ln>
        </p:spPr>
      </p:sp>
      <p:sp>
        <p:nvSpPr>
          <p:cNvPr id="34" name="Text 31"/>
          <p:cNvSpPr/>
          <p:nvPr/>
        </p:nvSpPr>
        <p:spPr>
          <a:xfrm>
            <a:off x="8483575" y="5521933"/>
            <a:ext cx="1710428" cy="34542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B6C"/>
                </a:solidFill>
                <a:latin typeface="IBM Plex Sans" pitchFamily="34" charset="0"/>
                <a:ea typeface="IBM Plex Sans" pitchFamily="34" charset="-122"/>
                <a:cs typeface="IBM Plex Sans" pitchFamily="34" charset="-120"/>
              </a:rPr>
              <a:t>Fraudsters / 10,000*</a:t>
            </a:r>
            <a:endParaRPr lang="en-US" sz="1300" dirty="0"/>
          </a:p>
        </p:txBody>
      </p:sp>
      <p:sp>
        <p:nvSpPr>
          <p:cNvPr id="35" name="Text 32"/>
          <p:cNvSpPr/>
          <p:nvPr/>
        </p:nvSpPr>
        <p:spPr>
          <a:xfrm>
            <a:off x="10194003" y="5521933"/>
            <a:ext cx="1185220" cy="345428"/>
          </a:xfrm>
          <a:prstGeom prst="rect">
            <a:avLst/>
          </a:prstGeom>
          <a:noFill/>
          <a:ln/>
        </p:spPr>
        <p:txBody>
          <a:bodyPr wrap="square" lIns="0" tIns="0" rIns="0" bIns="0" rtlCol="0" anchor="t">
            <a:normAutofit/>
          </a:bodyPr>
          <a:lstStyle/>
          <a:p>
            <a:pPr algn="r" indent="0" marL="0">
              <a:lnSpc>
                <a:spcPts val="2520"/>
              </a:lnSpc>
              <a:buNone/>
            </a:pPr>
            <a:r>
              <a:rPr lang="en-US" sz="1800" b="1" dirty="0">
                <a:solidFill>
                  <a:srgbClr val="1F2B6C"/>
                </a:solidFill>
                <a:latin typeface="Space Grotesk" pitchFamily="34" charset="0"/>
                <a:ea typeface="Space Grotesk" pitchFamily="34" charset="-122"/>
                <a:cs typeface="Space Grotesk" pitchFamily="34" charset="-120"/>
              </a:rPr>
              <a:t>≈ 1,350**</a:t>
            </a:r>
            <a:endParaRPr lang="en-US" sz="1800" dirty="0"/>
          </a:p>
        </p:txBody>
      </p:sp>
      <p:sp>
        <p:nvSpPr>
          <p:cNvPr id="36" name="Text 33"/>
          <p:cNvSpPr/>
          <p:nvPr/>
        </p:nvSpPr>
        <p:spPr>
          <a:xfrm>
            <a:off x="812750" y="6024916"/>
            <a:ext cx="2982455" cy="45206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FD1"/>
                </a:solidFill>
                <a:latin typeface="IBM Plex Sans" pitchFamily="34" charset="0"/>
                <a:ea typeface="IBM Plex Sans" pitchFamily="34" charset="-122"/>
                <a:cs typeface="IBM Plex Sans" pitchFamily="34" charset="-120"/>
              </a:rPr>
              <a:t>* 10,000 = example budget · AUC = 5-fold CV · ** Hadi: estimate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7EE"/>
        </a:solidFill>
      </p:bgPr>
    </p:bg>
    <p:spTree>
      <p:nvGrpSpPr>
        <p:cNvPr id="1" name=""/>
        <p:cNvGrpSpPr/>
        <p:nvPr/>
      </p:nvGrpSpPr>
      <p:grpSpPr>
        <a:xfrm>
          <a:off x="0" y="0"/>
          <a:ext cx="0" cy="0"/>
          <a:chOff x="0" y="0"/>
          <a:chExt cx="0" cy="0"/>
        </a:xfrm>
      </p:grpSpPr>
      <p:sp>
        <p:nvSpPr>
          <p:cNvPr id="2" name="Text 0"/>
          <p:cNvSpPr/>
          <p:nvPr/>
        </p:nvSpPr>
        <p:spPr>
          <a:xfrm>
            <a:off x="812750" y="812750"/>
            <a:ext cx="10883467" cy="27435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E0742B"/>
                </a:solidFill>
                <a:latin typeface="IBM Plex Sans" pitchFamily="34" charset="0"/>
                <a:ea typeface="IBM Plex Sans" pitchFamily="34" charset="-122"/>
                <a:cs typeface="IBM Plex Sans" pitchFamily="34" charset="-120"/>
              </a:rPr>
              <a:t>04 OF 05 – THE MODELS: WHAT WE ADDED</a:t>
            </a:r>
            <a:endParaRPr lang="en-US" sz="1400" dirty="0"/>
          </a:p>
        </p:txBody>
      </p:sp>
      <p:sp>
        <p:nvSpPr>
          <p:cNvPr id="3" name="Text 1"/>
          <p:cNvSpPr/>
          <p:nvPr>
            <p:ph type="title"/>
          </p:nvPr>
        </p:nvSpPr>
        <p:spPr>
          <a:xfrm>
            <a:off x="812750" y="1315678"/>
            <a:ext cx="10883467" cy="558760"/>
          </a:xfrm>
          <a:prstGeom prst="rect">
            <a:avLst/>
          </a:prstGeom>
          <a:noFill/>
          <a:ln/>
        </p:spPr>
        <p:txBody>
          <a:bodyPr wrap="square" lIns="0" tIns="0" rIns="0" bIns="0" rtlCol="0" anchor="t">
            <a:normAutofit/>
          </a:bodyPr>
          <a:lstStyle/>
          <a:p>
            <a:pPr algn="l" indent="0" marL="0">
              <a:lnSpc>
                <a:spcPts val="4200"/>
              </a:lnSpc>
              <a:buNone/>
            </a:pPr>
            <a:r>
              <a:rPr lang="en-US" sz="4000" b="1" i="0" dirty="0">
                <a:solidFill>
                  <a:srgbClr val="1F2B6C"/>
                </a:solidFill>
                <a:latin typeface="Space Grotesk" pitchFamily="34" charset="0"/>
                <a:ea typeface="Space Grotesk" pitchFamily="34" charset="-122"/>
                <a:cs typeface="Space Grotesk" pitchFamily="34" charset="-120"/>
              </a:rPr>
              <a:t>From 0.747 to 0.819, step by step.</a:t>
            </a:r>
            <a:endParaRPr lang="en-US" sz="4000" dirty="0"/>
          </a:p>
        </p:txBody>
      </p:sp>
      <p:sp>
        <p:nvSpPr>
          <p:cNvPr id="4" name="Shape 2"/>
          <p:cNvSpPr/>
          <p:nvPr/>
        </p:nvSpPr>
        <p:spPr>
          <a:xfrm>
            <a:off x="812750" y="2103003"/>
            <a:ext cx="1767942" cy="3738951"/>
          </a:xfrm>
          <a:prstGeom prst="rect">
            <a:avLst/>
          </a:prstGeom>
          <a:solidFill>
            <a:srgbClr val="F3ECDD"/>
          </a:solidFill>
          <a:ln/>
        </p:spPr>
      </p:sp>
      <p:sp>
        <p:nvSpPr>
          <p:cNvPr id="5" name="Shape 3"/>
          <p:cNvSpPr/>
          <p:nvPr/>
        </p:nvSpPr>
        <p:spPr>
          <a:xfrm>
            <a:off x="812750" y="2128403"/>
            <a:ext cx="1767942" cy="0"/>
          </a:xfrm>
          <a:prstGeom prst="line">
            <a:avLst/>
          </a:prstGeom>
          <a:noFill/>
          <a:ln w="50800">
            <a:solidFill>
              <a:srgbClr val="1F2B6C"/>
            </a:solidFill>
            <a:prstDash val="solid"/>
          </a:ln>
        </p:spPr>
      </p:sp>
      <p:sp>
        <p:nvSpPr>
          <p:cNvPr id="6" name="Text 4"/>
          <p:cNvSpPr/>
          <p:nvPr/>
        </p:nvSpPr>
        <p:spPr>
          <a:xfrm>
            <a:off x="990516" y="2356433"/>
            <a:ext cx="1463210" cy="584181"/>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6B6E85"/>
                </a:solidFill>
                <a:latin typeface="Space Grotesk" pitchFamily="34" charset="0"/>
                <a:ea typeface="Space Grotesk" pitchFamily="34" charset="-122"/>
                <a:cs typeface="Space Grotesk" pitchFamily="34" charset="-120"/>
              </a:rPr>
              <a:t>1</a:t>
            </a:r>
            <a:endParaRPr lang="en-US" sz="4400" dirty="0"/>
          </a:p>
        </p:txBody>
      </p:sp>
      <p:sp>
        <p:nvSpPr>
          <p:cNvPr id="7" name="Text 5"/>
          <p:cNvSpPr/>
          <p:nvPr/>
        </p:nvSpPr>
        <p:spPr>
          <a:xfrm>
            <a:off x="990516" y="3016777"/>
            <a:ext cx="1463210" cy="521987"/>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F2B6C"/>
                </a:solidFill>
                <a:latin typeface="Space Grotesk" pitchFamily="34" charset="0"/>
                <a:ea typeface="Space Grotesk" pitchFamily="34" charset="-122"/>
                <a:cs typeface="Space Grotesk" pitchFamily="34" charset="-120"/>
              </a:rPr>
              <a:t>16 base features</a:t>
            </a:r>
            <a:endParaRPr lang="en-US" sz="1700" dirty="0"/>
          </a:p>
        </p:txBody>
      </p:sp>
      <p:sp>
        <p:nvSpPr>
          <p:cNvPr id="8" name="Text 6"/>
          <p:cNvSpPr/>
          <p:nvPr/>
        </p:nvSpPr>
        <p:spPr>
          <a:xfrm>
            <a:off x="990516" y="3614924"/>
            <a:ext cx="1463210" cy="91664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F5C"/>
                </a:solidFill>
                <a:latin typeface="IBM Plex Sans" pitchFamily="34" charset="0"/>
                <a:ea typeface="IBM Plex Sans" pitchFamily="34" charset="-122"/>
                <a:cs typeface="IBM Plex Sans" pitchFamily="34" charset="-120"/>
              </a:rPr>
              <a:t>Consumption, zero bills, invoice ≠ meter, tariff, customer group.</a:t>
            </a:r>
            <a:endParaRPr lang="en-US" sz="1300" dirty="0"/>
          </a:p>
        </p:txBody>
      </p:sp>
      <p:sp>
        <p:nvSpPr>
          <p:cNvPr id="9" name="Shape 7"/>
          <p:cNvSpPr/>
          <p:nvPr/>
        </p:nvSpPr>
        <p:spPr>
          <a:xfrm>
            <a:off x="990516" y="5005518"/>
            <a:ext cx="1412410" cy="0"/>
          </a:xfrm>
          <a:prstGeom prst="line">
            <a:avLst/>
          </a:prstGeom>
          <a:noFill/>
          <a:ln w="19050">
            <a:solidFill>
              <a:srgbClr val="1F2B6C"/>
            </a:solidFill>
            <a:prstDash val="solid"/>
          </a:ln>
        </p:spPr>
      </p:sp>
      <p:sp>
        <p:nvSpPr>
          <p:cNvPr id="10" name="Text 8"/>
          <p:cNvSpPr/>
          <p:nvPr/>
        </p:nvSpPr>
        <p:spPr>
          <a:xfrm>
            <a:off x="990516" y="5100334"/>
            <a:ext cx="1463210" cy="220979"/>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6B6E85"/>
                </a:solidFill>
                <a:latin typeface="IBM Plex Sans" pitchFamily="34" charset="0"/>
                <a:ea typeface="IBM Plex Sans" pitchFamily="34" charset="-122"/>
                <a:cs typeface="IBM Plex Sans" pitchFamily="34" charset="-120"/>
              </a:rPr>
              <a:t>CV AUC</a:t>
            </a:r>
            <a:endParaRPr lang="en-US" sz="1100" dirty="0"/>
          </a:p>
        </p:txBody>
      </p:sp>
      <p:sp>
        <p:nvSpPr>
          <p:cNvPr id="11" name="Text 9"/>
          <p:cNvSpPr/>
          <p:nvPr/>
        </p:nvSpPr>
        <p:spPr>
          <a:xfrm>
            <a:off x="990516" y="5333957"/>
            <a:ext cx="1463210" cy="330211"/>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1F2B6C"/>
                </a:solidFill>
                <a:latin typeface="Space Grotesk" pitchFamily="34" charset="0"/>
                <a:ea typeface="Space Grotesk" pitchFamily="34" charset="-122"/>
                <a:cs typeface="Space Grotesk" pitchFamily="34" charset="-120"/>
              </a:rPr>
              <a:t>0.747</a:t>
            </a:r>
            <a:endParaRPr lang="en-US" sz="2400" dirty="0"/>
          </a:p>
        </p:txBody>
      </p:sp>
      <p:pic>
        <p:nvPicPr>
          <p:cNvPr id="12" name="Image 0" descr="arrow-right">    </p:cNvPr>
          <p:cNvPicPr>
            <a:picLocks noChangeAspect="1"/>
          </p:cNvPicPr>
          <p:nvPr/>
        </p:nvPicPr>
        <p:blipFill>
          <a:blip r:embed="rId1"/>
          <a:srcRect l="-13" r="-13" t="0" b="0"/>
          <a:stretch/>
        </p:blipFill>
        <p:spPr>
          <a:xfrm>
            <a:off x="2682256" y="3915327"/>
            <a:ext cx="228548" cy="114244"/>
          </a:xfrm>
          <a:prstGeom prst="rect">
            <a:avLst/>
          </a:prstGeom>
        </p:spPr>
      </p:pic>
      <p:sp>
        <p:nvSpPr>
          <p:cNvPr id="13" name="Shape 10"/>
          <p:cNvSpPr/>
          <p:nvPr/>
        </p:nvSpPr>
        <p:spPr>
          <a:xfrm>
            <a:off x="3012367" y="2103003"/>
            <a:ext cx="1768003" cy="3738951"/>
          </a:xfrm>
          <a:prstGeom prst="rect">
            <a:avLst/>
          </a:prstGeom>
          <a:solidFill>
            <a:srgbClr val="F3ECDD"/>
          </a:solidFill>
          <a:ln/>
        </p:spPr>
      </p:sp>
      <p:sp>
        <p:nvSpPr>
          <p:cNvPr id="14" name="Shape 11"/>
          <p:cNvSpPr/>
          <p:nvPr/>
        </p:nvSpPr>
        <p:spPr>
          <a:xfrm>
            <a:off x="3012367" y="2128403"/>
            <a:ext cx="1768003" cy="0"/>
          </a:xfrm>
          <a:prstGeom prst="line">
            <a:avLst/>
          </a:prstGeom>
          <a:noFill/>
          <a:ln w="50800">
            <a:solidFill>
              <a:srgbClr val="1F2B6C"/>
            </a:solidFill>
            <a:prstDash val="solid"/>
          </a:ln>
        </p:spPr>
      </p:sp>
      <p:sp>
        <p:nvSpPr>
          <p:cNvPr id="15" name="Text 12"/>
          <p:cNvSpPr/>
          <p:nvPr/>
        </p:nvSpPr>
        <p:spPr>
          <a:xfrm>
            <a:off x="3190134" y="2356433"/>
            <a:ext cx="1463270" cy="584181"/>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E0742B"/>
                </a:solidFill>
                <a:latin typeface="Space Grotesk" pitchFamily="34" charset="0"/>
                <a:ea typeface="Space Grotesk" pitchFamily="34" charset="-122"/>
                <a:cs typeface="Space Grotesk" pitchFamily="34" charset="-120"/>
              </a:rPr>
              <a:t>2</a:t>
            </a:r>
            <a:endParaRPr lang="en-US" sz="4400" dirty="0"/>
          </a:p>
        </p:txBody>
      </p:sp>
      <p:sp>
        <p:nvSpPr>
          <p:cNvPr id="16" name="Text 13"/>
          <p:cNvSpPr/>
          <p:nvPr/>
        </p:nvSpPr>
        <p:spPr>
          <a:xfrm>
            <a:off x="3190134" y="3016777"/>
            <a:ext cx="1463270" cy="273693"/>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F2B6C"/>
                </a:solidFill>
                <a:latin typeface="Space Grotesk" pitchFamily="34" charset="0"/>
                <a:ea typeface="Space Grotesk" pitchFamily="34" charset="-122"/>
                <a:cs typeface="Space Grotesk" pitchFamily="34" charset="-120"/>
              </a:rPr>
              <a:t>+ Location</a:t>
            </a:r>
            <a:endParaRPr lang="en-US" sz="1700" dirty="0"/>
          </a:p>
        </p:txBody>
      </p:sp>
      <p:sp>
        <p:nvSpPr>
          <p:cNvPr id="17" name="Text 14"/>
          <p:cNvSpPr/>
          <p:nvPr/>
        </p:nvSpPr>
        <p:spPr>
          <a:xfrm>
            <a:off x="3190134" y="3366629"/>
            <a:ext cx="1463270" cy="471024"/>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F5C"/>
                </a:solidFill>
                <a:latin typeface="IBM Plex Sans" pitchFamily="34" charset="0"/>
                <a:ea typeface="IBM Plex Sans" pitchFamily="34" charset="-122"/>
                <a:cs typeface="IBM Plex Sans" pitchFamily="34" charset="-120"/>
              </a:rPr>
              <a:t>District and region of the customer.</a:t>
            </a:r>
            <a:endParaRPr lang="en-US" sz="1300" dirty="0"/>
          </a:p>
        </p:txBody>
      </p:sp>
      <p:sp>
        <p:nvSpPr>
          <p:cNvPr id="18" name="Shape 15"/>
          <p:cNvSpPr/>
          <p:nvPr/>
        </p:nvSpPr>
        <p:spPr>
          <a:xfrm>
            <a:off x="3190134" y="5005518"/>
            <a:ext cx="1412470" cy="0"/>
          </a:xfrm>
          <a:prstGeom prst="line">
            <a:avLst/>
          </a:prstGeom>
          <a:noFill/>
          <a:ln w="19050">
            <a:solidFill>
              <a:srgbClr val="1F2B6C"/>
            </a:solidFill>
            <a:prstDash val="solid"/>
          </a:ln>
        </p:spPr>
      </p:sp>
      <p:sp>
        <p:nvSpPr>
          <p:cNvPr id="19" name="Text 16"/>
          <p:cNvSpPr/>
          <p:nvPr/>
        </p:nvSpPr>
        <p:spPr>
          <a:xfrm>
            <a:off x="3190134" y="5100334"/>
            <a:ext cx="1463270" cy="220979"/>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6B6E85"/>
                </a:solidFill>
                <a:latin typeface="IBM Plex Sans" pitchFamily="34" charset="0"/>
                <a:ea typeface="IBM Plex Sans" pitchFamily="34" charset="-122"/>
                <a:cs typeface="IBM Plex Sans" pitchFamily="34" charset="-120"/>
              </a:rPr>
              <a:t>CV AUC</a:t>
            </a:r>
            <a:endParaRPr lang="en-US" sz="1100" dirty="0"/>
          </a:p>
        </p:txBody>
      </p:sp>
      <p:sp>
        <p:nvSpPr>
          <p:cNvPr id="20" name="Text 17"/>
          <p:cNvSpPr/>
          <p:nvPr/>
        </p:nvSpPr>
        <p:spPr>
          <a:xfrm>
            <a:off x="3190134" y="5333957"/>
            <a:ext cx="1463270" cy="330211"/>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1F2B6C"/>
                </a:solidFill>
                <a:latin typeface="Space Grotesk" pitchFamily="34" charset="0"/>
                <a:ea typeface="Space Grotesk" pitchFamily="34" charset="-122"/>
                <a:cs typeface="Space Grotesk" pitchFamily="34" charset="-120"/>
              </a:rPr>
              <a:t>0.768</a:t>
            </a:r>
            <a:endParaRPr lang="en-US" sz="2400" dirty="0"/>
          </a:p>
        </p:txBody>
      </p:sp>
      <p:pic>
        <p:nvPicPr>
          <p:cNvPr id="21" name="Image 1" descr="arrow-right">    </p:cNvPr>
          <p:cNvPicPr>
            <a:picLocks noChangeAspect="1"/>
          </p:cNvPicPr>
          <p:nvPr/>
        </p:nvPicPr>
        <p:blipFill>
          <a:blip r:embed="rId2"/>
          <a:srcRect l="-13" r="-13" t="0" b="0"/>
          <a:stretch/>
        </p:blipFill>
        <p:spPr>
          <a:xfrm>
            <a:off x="4881934" y="3915327"/>
            <a:ext cx="228548" cy="114244"/>
          </a:xfrm>
          <a:prstGeom prst="rect">
            <a:avLst/>
          </a:prstGeom>
        </p:spPr>
      </p:pic>
      <p:sp>
        <p:nvSpPr>
          <p:cNvPr id="22" name="Shape 18"/>
          <p:cNvSpPr/>
          <p:nvPr/>
        </p:nvSpPr>
        <p:spPr>
          <a:xfrm>
            <a:off x="5212045" y="2103003"/>
            <a:ext cx="1767942" cy="3738951"/>
          </a:xfrm>
          <a:prstGeom prst="rect">
            <a:avLst/>
          </a:prstGeom>
          <a:solidFill>
            <a:srgbClr val="F3ECDD"/>
          </a:solidFill>
          <a:ln/>
        </p:spPr>
      </p:sp>
      <p:sp>
        <p:nvSpPr>
          <p:cNvPr id="23" name="Shape 19"/>
          <p:cNvSpPr/>
          <p:nvPr/>
        </p:nvSpPr>
        <p:spPr>
          <a:xfrm>
            <a:off x="5212045" y="2128403"/>
            <a:ext cx="1767942" cy="0"/>
          </a:xfrm>
          <a:prstGeom prst="line">
            <a:avLst/>
          </a:prstGeom>
          <a:noFill/>
          <a:ln w="50800">
            <a:solidFill>
              <a:srgbClr val="1F2B6C"/>
            </a:solidFill>
            <a:prstDash val="solid"/>
          </a:ln>
        </p:spPr>
      </p:sp>
      <p:sp>
        <p:nvSpPr>
          <p:cNvPr id="24" name="Text 20"/>
          <p:cNvSpPr/>
          <p:nvPr/>
        </p:nvSpPr>
        <p:spPr>
          <a:xfrm>
            <a:off x="5389812" y="2356433"/>
            <a:ext cx="1463210" cy="584181"/>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E0742B"/>
                </a:solidFill>
                <a:latin typeface="Space Grotesk" pitchFamily="34" charset="0"/>
                <a:ea typeface="Space Grotesk" pitchFamily="34" charset="-122"/>
                <a:cs typeface="Space Grotesk" pitchFamily="34" charset="-120"/>
              </a:rPr>
              <a:t>3</a:t>
            </a:r>
            <a:endParaRPr lang="en-US" sz="4400" dirty="0"/>
          </a:p>
        </p:txBody>
      </p:sp>
      <p:sp>
        <p:nvSpPr>
          <p:cNvPr id="25" name="Text 21"/>
          <p:cNvSpPr/>
          <p:nvPr/>
        </p:nvSpPr>
        <p:spPr>
          <a:xfrm>
            <a:off x="5389812" y="3016777"/>
            <a:ext cx="1463210" cy="521987"/>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F2B6C"/>
                </a:solidFill>
                <a:latin typeface="Space Grotesk" pitchFamily="34" charset="0"/>
                <a:ea typeface="Space Grotesk" pitchFamily="34" charset="-122"/>
                <a:cs typeface="Space Grotesk" pitchFamily="34" charset="-120"/>
              </a:rPr>
              <a:t>+ Usage pattern</a:t>
            </a:r>
            <a:endParaRPr lang="en-US" sz="1700" dirty="0"/>
          </a:p>
        </p:txBody>
      </p:sp>
      <p:sp>
        <p:nvSpPr>
          <p:cNvPr id="26" name="Text 22"/>
          <p:cNvSpPr/>
          <p:nvPr/>
        </p:nvSpPr>
        <p:spPr>
          <a:xfrm>
            <a:off x="5389812" y="3614924"/>
            <a:ext cx="1463210" cy="69383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F5C"/>
                </a:solidFill>
                <a:latin typeface="IBM Plex Sans" pitchFamily="34" charset="0"/>
                <a:ea typeface="IBM Plex Sans" pitchFamily="34" charset="-122"/>
                <a:cs typeface="IBM Plex Sans" pitchFamily="34" charset="-120"/>
              </a:rPr>
              <a:t>How steady it is, drops over time, summer vs. winter.</a:t>
            </a:r>
            <a:endParaRPr lang="en-US" sz="1300" dirty="0"/>
          </a:p>
        </p:txBody>
      </p:sp>
      <p:sp>
        <p:nvSpPr>
          <p:cNvPr id="27" name="Shape 23"/>
          <p:cNvSpPr/>
          <p:nvPr/>
        </p:nvSpPr>
        <p:spPr>
          <a:xfrm>
            <a:off x="5389812" y="5005518"/>
            <a:ext cx="1412410" cy="0"/>
          </a:xfrm>
          <a:prstGeom prst="line">
            <a:avLst/>
          </a:prstGeom>
          <a:noFill/>
          <a:ln w="19050">
            <a:solidFill>
              <a:srgbClr val="1F2B6C"/>
            </a:solidFill>
            <a:prstDash val="solid"/>
          </a:ln>
        </p:spPr>
      </p:sp>
      <p:sp>
        <p:nvSpPr>
          <p:cNvPr id="28" name="Text 24"/>
          <p:cNvSpPr/>
          <p:nvPr/>
        </p:nvSpPr>
        <p:spPr>
          <a:xfrm>
            <a:off x="5389812" y="5100334"/>
            <a:ext cx="1463210" cy="220979"/>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6B6E85"/>
                </a:solidFill>
                <a:latin typeface="IBM Plex Sans" pitchFamily="34" charset="0"/>
                <a:ea typeface="IBM Plex Sans" pitchFamily="34" charset="-122"/>
                <a:cs typeface="IBM Plex Sans" pitchFamily="34" charset="-120"/>
              </a:rPr>
              <a:t>CV AUC</a:t>
            </a:r>
            <a:endParaRPr lang="en-US" sz="1100" dirty="0"/>
          </a:p>
        </p:txBody>
      </p:sp>
      <p:sp>
        <p:nvSpPr>
          <p:cNvPr id="29" name="Text 25"/>
          <p:cNvSpPr/>
          <p:nvPr/>
        </p:nvSpPr>
        <p:spPr>
          <a:xfrm>
            <a:off x="5389812" y="5333957"/>
            <a:ext cx="1463210" cy="330211"/>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1F2B6C"/>
                </a:solidFill>
                <a:latin typeface="Space Grotesk" pitchFamily="34" charset="0"/>
                <a:ea typeface="Space Grotesk" pitchFamily="34" charset="-122"/>
                <a:cs typeface="Space Grotesk" pitchFamily="34" charset="-120"/>
              </a:rPr>
              <a:t>0.774</a:t>
            </a:r>
            <a:endParaRPr lang="en-US" sz="2400" dirty="0"/>
          </a:p>
        </p:txBody>
      </p:sp>
      <p:pic>
        <p:nvPicPr>
          <p:cNvPr id="30" name="Image 2" descr="arrow-right">    </p:cNvPr>
          <p:cNvPicPr>
            <a:picLocks noChangeAspect="1"/>
          </p:cNvPicPr>
          <p:nvPr/>
        </p:nvPicPr>
        <p:blipFill>
          <a:blip r:embed="rId3"/>
          <a:srcRect l="-13" r="-13" t="0" b="0"/>
          <a:stretch/>
        </p:blipFill>
        <p:spPr>
          <a:xfrm>
            <a:off x="7081551" y="3915327"/>
            <a:ext cx="228548" cy="114244"/>
          </a:xfrm>
          <a:prstGeom prst="rect">
            <a:avLst/>
          </a:prstGeom>
        </p:spPr>
      </p:pic>
      <p:sp>
        <p:nvSpPr>
          <p:cNvPr id="31" name="Shape 26"/>
          <p:cNvSpPr/>
          <p:nvPr/>
        </p:nvSpPr>
        <p:spPr>
          <a:xfrm>
            <a:off x="7411663" y="2103003"/>
            <a:ext cx="1767942" cy="3738951"/>
          </a:xfrm>
          <a:prstGeom prst="rect">
            <a:avLst/>
          </a:prstGeom>
          <a:solidFill>
            <a:srgbClr val="F3ECDD"/>
          </a:solidFill>
          <a:ln/>
        </p:spPr>
      </p:sp>
      <p:sp>
        <p:nvSpPr>
          <p:cNvPr id="32" name="Shape 27"/>
          <p:cNvSpPr/>
          <p:nvPr/>
        </p:nvSpPr>
        <p:spPr>
          <a:xfrm>
            <a:off x="7411663" y="2128403"/>
            <a:ext cx="1767942" cy="0"/>
          </a:xfrm>
          <a:prstGeom prst="line">
            <a:avLst/>
          </a:prstGeom>
          <a:noFill/>
          <a:ln w="50800">
            <a:solidFill>
              <a:srgbClr val="1F2B6C"/>
            </a:solidFill>
            <a:prstDash val="solid"/>
          </a:ln>
        </p:spPr>
      </p:sp>
      <p:sp>
        <p:nvSpPr>
          <p:cNvPr id="33" name="Text 28"/>
          <p:cNvSpPr/>
          <p:nvPr/>
        </p:nvSpPr>
        <p:spPr>
          <a:xfrm>
            <a:off x="7589429" y="2356433"/>
            <a:ext cx="1463210" cy="584181"/>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E0742B"/>
                </a:solidFill>
                <a:latin typeface="Space Grotesk" pitchFamily="34" charset="0"/>
                <a:ea typeface="Space Grotesk" pitchFamily="34" charset="-122"/>
                <a:cs typeface="Space Grotesk" pitchFamily="34" charset="-120"/>
              </a:rPr>
              <a:t>4</a:t>
            </a:r>
            <a:endParaRPr lang="en-US" sz="4400" dirty="0"/>
          </a:p>
        </p:txBody>
      </p:sp>
      <p:sp>
        <p:nvSpPr>
          <p:cNvPr id="34" name="Text 29"/>
          <p:cNvSpPr/>
          <p:nvPr/>
        </p:nvSpPr>
        <p:spPr>
          <a:xfrm>
            <a:off x="7589429" y="3016777"/>
            <a:ext cx="1463210" cy="521987"/>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F2B6C"/>
                </a:solidFill>
                <a:latin typeface="Space Grotesk" pitchFamily="34" charset="0"/>
                <a:ea typeface="Space Grotesk" pitchFamily="34" charset="-122"/>
                <a:cs typeface="Space Grotesk" pitchFamily="34" charset="-120"/>
              </a:rPr>
              <a:t>+ Bills &amp; meter</a:t>
            </a:r>
            <a:endParaRPr lang="en-US" sz="1700" dirty="0"/>
          </a:p>
        </p:txBody>
      </p:sp>
      <p:sp>
        <p:nvSpPr>
          <p:cNvPr id="35" name="Text 30"/>
          <p:cNvSpPr/>
          <p:nvPr/>
        </p:nvSpPr>
        <p:spPr>
          <a:xfrm>
            <a:off x="7589429" y="3614924"/>
            <a:ext cx="1463210" cy="91664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F5C"/>
                </a:solidFill>
                <a:latin typeface="IBM Plex Sans" pitchFamily="34" charset="0"/>
                <a:ea typeface="IBM Plex Sans" pitchFamily="34" charset="-122"/>
                <a:cs typeface="IBM Plex Sans" pitchFamily="34" charset="-120"/>
              </a:rPr>
              <a:t>Gaps between bills, electricity vs. gas, meter codes, customer age.</a:t>
            </a:r>
            <a:endParaRPr lang="en-US" sz="1300" dirty="0"/>
          </a:p>
        </p:txBody>
      </p:sp>
      <p:sp>
        <p:nvSpPr>
          <p:cNvPr id="36" name="Shape 31"/>
          <p:cNvSpPr/>
          <p:nvPr/>
        </p:nvSpPr>
        <p:spPr>
          <a:xfrm>
            <a:off x="7589429" y="5005518"/>
            <a:ext cx="1412410" cy="0"/>
          </a:xfrm>
          <a:prstGeom prst="line">
            <a:avLst/>
          </a:prstGeom>
          <a:noFill/>
          <a:ln w="19050">
            <a:solidFill>
              <a:srgbClr val="1F2B6C"/>
            </a:solidFill>
            <a:prstDash val="solid"/>
          </a:ln>
        </p:spPr>
      </p:sp>
      <p:sp>
        <p:nvSpPr>
          <p:cNvPr id="37" name="Text 32"/>
          <p:cNvSpPr/>
          <p:nvPr/>
        </p:nvSpPr>
        <p:spPr>
          <a:xfrm>
            <a:off x="7589429" y="5100334"/>
            <a:ext cx="1463210" cy="220979"/>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6B6E85"/>
                </a:solidFill>
                <a:latin typeface="IBM Plex Sans" pitchFamily="34" charset="0"/>
                <a:ea typeface="IBM Plex Sans" pitchFamily="34" charset="-122"/>
                <a:cs typeface="IBM Plex Sans" pitchFamily="34" charset="-120"/>
              </a:rPr>
              <a:t>CV AUC</a:t>
            </a:r>
            <a:endParaRPr lang="en-US" sz="1100" dirty="0"/>
          </a:p>
        </p:txBody>
      </p:sp>
      <p:sp>
        <p:nvSpPr>
          <p:cNvPr id="38" name="Text 33"/>
          <p:cNvSpPr/>
          <p:nvPr/>
        </p:nvSpPr>
        <p:spPr>
          <a:xfrm>
            <a:off x="7589429" y="5333957"/>
            <a:ext cx="1463210" cy="330211"/>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1F2B6C"/>
                </a:solidFill>
                <a:latin typeface="Space Grotesk" pitchFamily="34" charset="0"/>
                <a:ea typeface="Space Grotesk" pitchFamily="34" charset="-122"/>
                <a:cs typeface="Space Grotesk" pitchFamily="34" charset="-120"/>
              </a:rPr>
              <a:t>0.817</a:t>
            </a:r>
            <a:endParaRPr lang="en-US" sz="2400" dirty="0"/>
          </a:p>
        </p:txBody>
      </p:sp>
      <p:pic>
        <p:nvPicPr>
          <p:cNvPr id="39" name="Image 3" descr="arrow-right">    </p:cNvPr>
          <p:cNvPicPr>
            <a:picLocks noChangeAspect="1"/>
          </p:cNvPicPr>
          <p:nvPr/>
        </p:nvPicPr>
        <p:blipFill>
          <a:blip r:embed="rId4"/>
          <a:srcRect l="-13" r="-13" t="0" b="0"/>
          <a:stretch/>
        </p:blipFill>
        <p:spPr>
          <a:xfrm>
            <a:off x="9281168" y="3915327"/>
            <a:ext cx="228548" cy="114244"/>
          </a:xfrm>
          <a:prstGeom prst="rect">
            <a:avLst/>
          </a:prstGeom>
        </p:spPr>
      </p:pic>
      <p:sp>
        <p:nvSpPr>
          <p:cNvPr id="40" name="Shape 34"/>
          <p:cNvSpPr/>
          <p:nvPr/>
        </p:nvSpPr>
        <p:spPr>
          <a:xfrm>
            <a:off x="9611281" y="2103003"/>
            <a:ext cx="1767942" cy="3738951"/>
          </a:xfrm>
          <a:prstGeom prst="rect">
            <a:avLst/>
          </a:prstGeom>
          <a:solidFill>
            <a:srgbClr val="1F2B6C"/>
          </a:solidFill>
          <a:ln/>
        </p:spPr>
      </p:sp>
      <p:sp>
        <p:nvSpPr>
          <p:cNvPr id="41" name="Shape 35"/>
          <p:cNvSpPr/>
          <p:nvPr/>
        </p:nvSpPr>
        <p:spPr>
          <a:xfrm>
            <a:off x="9611281" y="2128403"/>
            <a:ext cx="1767942" cy="0"/>
          </a:xfrm>
          <a:prstGeom prst="line">
            <a:avLst/>
          </a:prstGeom>
          <a:noFill/>
          <a:ln w="50800">
            <a:solidFill>
              <a:srgbClr val="E0742B"/>
            </a:solidFill>
            <a:prstDash val="solid"/>
          </a:ln>
        </p:spPr>
      </p:sp>
      <p:sp>
        <p:nvSpPr>
          <p:cNvPr id="42" name="Text 36"/>
          <p:cNvSpPr/>
          <p:nvPr/>
        </p:nvSpPr>
        <p:spPr>
          <a:xfrm>
            <a:off x="9789047" y="2356433"/>
            <a:ext cx="1463210" cy="584181"/>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E0742B"/>
                </a:solidFill>
                <a:latin typeface="Space Grotesk" pitchFamily="34" charset="0"/>
                <a:ea typeface="Space Grotesk" pitchFamily="34" charset="-122"/>
                <a:cs typeface="Space Grotesk" pitchFamily="34" charset="-120"/>
              </a:rPr>
              <a:t>5</a:t>
            </a:r>
            <a:endParaRPr lang="en-US" sz="4400" dirty="0"/>
          </a:p>
        </p:txBody>
      </p:sp>
      <p:sp>
        <p:nvSpPr>
          <p:cNvPr id="43" name="Text 37"/>
          <p:cNvSpPr/>
          <p:nvPr/>
        </p:nvSpPr>
        <p:spPr>
          <a:xfrm>
            <a:off x="9789047" y="3016777"/>
            <a:ext cx="1463210" cy="273693"/>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F3ECDD"/>
                </a:solidFill>
                <a:latin typeface="Space Grotesk" pitchFamily="34" charset="0"/>
                <a:ea typeface="Space Grotesk" pitchFamily="34" charset="-122"/>
                <a:cs typeface="Space Grotesk" pitchFamily="34" charset="-120"/>
              </a:rPr>
              <a:t>+ Tuning</a:t>
            </a:r>
            <a:endParaRPr lang="en-US" sz="1700" dirty="0"/>
          </a:p>
        </p:txBody>
      </p:sp>
      <p:sp>
        <p:nvSpPr>
          <p:cNvPr id="44" name="Text 38"/>
          <p:cNvSpPr/>
          <p:nvPr/>
        </p:nvSpPr>
        <p:spPr>
          <a:xfrm>
            <a:off x="9789047" y="3366629"/>
            <a:ext cx="1463210" cy="91664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D9D3C4"/>
                </a:solidFill>
                <a:latin typeface="IBM Plex Sans" pitchFamily="34" charset="0"/>
                <a:ea typeface="IBM Plex Sans" pitchFamily="34" charset="-122"/>
                <a:cs typeface="IBM Plex Sans" pitchFamily="34" charset="-120"/>
              </a:rPr>
              <a:t>Settings tested on the training part only. Holdout: 0.821.</a:t>
            </a:r>
            <a:endParaRPr lang="en-US" sz="1300" dirty="0"/>
          </a:p>
        </p:txBody>
      </p:sp>
      <p:sp>
        <p:nvSpPr>
          <p:cNvPr id="45" name="Shape 39"/>
          <p:cNvSpPr/>
          <p:nvPr/>
        </p:nvSpPr>
        <p:spPr>
          <a:xfrm>
            <a:off x="9789047" y="5005518"/>
            <a:ext cx="1412410" cy="0"/>
          </a:xfrm>
          <a:prstGeom prst="line">
            <a:avLst/>
          </a:prstGeom>
          <a:noFill/>
          <a:ln w="19050">
            <a:solidFill>
              <a:srgbClr val="A9AFD1"/>
            </a:solidFill>
            <a:prstDash val="solid"/>
          </a:ln>
        </p:spPr>
      </p:sp>
      <p:sp>
        <p:nvSpPr>
          <p:cNvPr id="46" name="Text 40"/>
          <p:cNvSpPr/>
          <p:nvPr/>
        </p:nvSpPr>
        <p:spPr>
          <a:xfrm>
            <a:off x="9789047" y="5100334"/>
            <a:ext cx="1463210" cy="220979"/>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A9AFD1"/>
                </a:solidFill>
                <a:latin typeface="IBM Plex Sans" pitchFamily="34" charset="0"/>
                <a:ea typeface="IBM Plex Sans" pitchFamily="34" charset="-122"/>
                <a:cs typeface="IBM Plex Sans" pitchFamily="34" charset="-120"/>
              </a:rPr>
              <a:t>CV AUC</a:t>
            </a:r>
            <a:endParaRPr lang="en-US" sz="1100" dirty="0"/>
          </a:p>
        </p:txBody>
      </p:sp>
      <p:sp>
        <p:nvSpPr>
          <p:cNvPr id="47" name="Text 41"/>
          <p:cNvSpPr/>
          <p:nvPr/>
        </p:nvSpPr>
        <p:spPr>
          <a:xfrm>
            <a:off x="9789047" y="5333957"/>
            <a:ext cx="1463210" cy="330211"/>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E0742B"/>
                </a:solidFill>
                <a:latin typeface="Space Grotesk" pitchFamily="34" charset="0"/>
                <a:ea typeface="Space Grotesk" pitchFamily="34" charset="-122"/>
                <a:cs typeface="Space Grotesk" pitchFamily="34" charset="-120"/>
              </a:rPr>
              <a:t>0.819</a:t>
            </a:r>
            <a:endParaRPr lang="en-US" sz="2400" dirty="0"/>
          </a:p>
        </p:txBody>
      </p:sp>
      <p:sp>
        <p:nvSpPr>
          <p:cNvPr id="48" name="Text 42"/>
          <p:cNvSpPr/>
          <p:nvPr/>
        </p:nvSpPr>
        <p:spPr>
          <a:xfrm>
            <a:off x="812750" y="6238249"/>
            <a:ext cx="10883342"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5"/>
                </a:solidFill>
                <a:latin typeface="IBM Plex Sans" pitchFamily="34" charset="0"/>
                <a:ea typeface="IBM Plex Sans" pitchFamily="34" charset="-122"/>
                <a:cs typeface="IBM Plex Sans" pitchFamily="34" charset="-120"/>
              </a:rPr>
              <a:t>CV AUC = 5-fold CV on the training part · holdout = 27,099 unseen customers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2B6C"/>
        </a:solidFill>
      </p:bgPr>
    </p:bg>
    <p:spTree>
      <p:nvGrpSpPr>
        <p:cNvPr id="1" name=""/>
        <p:cNvGrpSpPr/>
        <p:nvPr/>
      </p:nvGrpSpPr>
      <p:grpSpPr>
        <a:xfrm>
          <a:off x="0" y="0"/>
          <a:ext cx="0" cy="0"/>
          <a:chOff x="0" y="0"/>
          <a:chExt cx="0" cy="0"/>
        </a:xfrm>
      </p:grpSpPr>
      <p:sp>
        <p:nvSpPr>
          <p:cNvPr id="2" name="Shape 0"/>
          <p:cNvSpPr/>
          <p:nvPr/>
        </p:nvSpPr>
        <p:spPr>
          <a:xfrm>
            <a:off x="0" y="0"/>
            <a:ext cx="5524465" cy="6857954"/>
          </a:xfrm>
          <a:prstGeom prst="rect">
            <a:avLst/>
          </a:prstGeom>
          <a:solidFill>
            <a:srgbClr val="E0742B"/>
          </a:solidFill>
          <a:ln/>
        </p:spPr>
      </p:sp>
      <p:sp>
        <p:nvSpPr>
          <p:cNvPr id="3" name="Text 1"/>
          <p:cNvSpPr/>
          <p:nvPr/>
        </p:nvSpPr>
        <p:spPr>
          <a:xfrm>
            <a:off x="812750" y="1635826"/>
            <a:ext cx="4678758" cy="27435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1F2B6C"/>
                </a:solidFill>
                <a:latin typeface="IBM Plex Sans" pitchFamily="34" charset="0"/>
                <a:ea typeface="IBM Plex Sans" pitchFamily="34" charset="-122"/>
                <a:cs typeface="IBM Plex Sans" pitchFamily="34" charset="-120"/>
              </a:rPr>
              <a:t>05 OF 05 – WHAT IT MEANS FOR STEG</a:t>
            </a:r>
            <a:endParaRPr lang="en-US" sz="1400" dirty="0"/>
          </a:p>
        </p:txBody>
      </p:sp>
      <p:sp>
        <p:nvSpPr>
          <p:cNvPr id="4" name="Text 2"/>
          <p:cNvSpPr/>
          <p:nvPr/>
        </p:nvSpPr>
        <p:spPr>
          <a:xfrm>
            <a:off x="812750" y="2037128"/>
            <a:ext cx="4015934" cy="1625599"/>
          </a:xfrm>
          <a:prstGeom prst="rect">
            <a:avLst/>
          </a:prstGeom>
          <a:noFill/>
          <a:ln/>
        </p:spPr>
        <p:txBody>
          <a:bodyPr wrap="square" lIns="0" tIns="0" rIns="0" bIns="0" rtlCol="0" anchor="t">
            <a:normAutofit/>
          </a:bodyPr>
          <a:lstStyle/>
          <a:p>
            <a:pPr algn="l" indent="0" marL="0">
              <a:lnSpc>
                <a:spcPts val="12600"/>
              </a:lnSpc>
              <a:buNone/>
            </a:pPr>
            <a:r>
              <a:rPr lang="en-US" sz="14000" b="1" dirty="0">
                <a:solidFill>
                  <a:srgbClr val="1F2B6C"/>
                </a:solidFill>
                <a:latin typeface="Space Grotesk" pitchFamily="34" charset="0"/>
                <a:ea typeface="Space Grotesk" pitchFamily="34" charset="-122"/>
                <a:cs typeface="Space Grotesk" pitchFamily="34" charset="-120"/>
              </a:rPr>
              <a:t>2×</a:t>
            </a:r>
            <a:endParaRPr lang="en-US" sz="14000" dirty="0"/>
          </a:p>
        </p:txBody>
      </p:sp>
      <p:sp>
        <p:nvSpPr>
          <p:cNvPr id="5" name="Text 3"/>
          <p:cNvSpPr/>
          <p:nvPr/>
        </p:nvSpPr>
        <p:spPr>
          <a:xfrm>
            <a:off x="812750" y="3789673"/>
            <a:ext cx="4015934" cy="807596"/>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F2B6C"/>
                </a:solidFill>
                <a:latin typeface="Space Grotesk" pitchFamily="34" charset="0"/>
                <a:ea typeface="Space Grotesk" pitchFamily="34" charset="-122"/>
                <a:cs typeface="Space Grotesk" pitchFamily="34" charset="-120"/>
              </a:rPr>
              <a:t>the fraudsters. Same inspections.</a:t>
            </a:r>
            <a:endParaRPr lang="en-US" sz="2800" dirty="0"/>
          </a:p>
        </p:txBody>
      </p:sp>
      <p:sp>
        <p:nvSpPr>
          <p:cNvPr id="6" name="Text 4"/>
          <p:cNvSpPr/>
          <p:nvPr/>
        </p:nvSpPr>
        <p:spPr>
          <a:xfrm>
            <a:off x="812750" y="4724220"/>
            <a:ext cx="4015934" cy="523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B6C"/>
                </a:solidFill>
                <a:latin typeface="IBM Plex Sans" pitchFamily="34" charset="0"/>
                <a:ea typeface="IBM Plex Sans" pitchFamily="34" charset="-122"/>
                <a:cs typeface="IBM Plex Sans" pitchFamily="34" charset="-120"/>
              </a:rPr>
              <a:t>If the best model is only slightly better, take the simpler one: cheaper to run, easier to explain.</a:t>
            </a:r>
            <a:endParaRPr lang="en-US" sz="1400" dirty="0"/>
          </a:p>
        </p:txBody>
      </p:sp>
      <p:sp>
        <p:nvSpPr>
          <p:cNvPr id="7" name="Text 5"/>
          <p:cNvSpPr/>
          <p:nvPr/>
        </p:nvSpPr>
        <p:spPr>
          <a:xfrm>
            <a:off x="6707548" y="4353713"/>
            <a:ext cx="796253" cy="380993"/>
          </a:xfrm>
          <a:prstGeom prst="rect">
            <a:avLst/>
          </a:prstGeom>
          <a:noFill/>
          <a:ln/>
        </p:spPr>
        <p:txBody>
          <a:bodyPr wrap="square" lIns="0" tIns="0" rIns="0" bIns="0" rtlCol="0" anchor="t">
            <a:normAutofit/>
          </a:bodyPr>
          <a:lstStyle/>
          <a:p>
            <a:pPr algn="ctr" indent="0" marL="0">
              <a:lnSpc>
                <a:spcPts val="2800"/>
              </a:lnSpc>
              <a:buNone/>
            </a:pPr>
            <a:r>
              <a:rPr lang="en-US" sz="2800" b="1" dirty="0">
                <a:solidFill>
                  <a:srgbClr val="A9AFD1"/>
                </a:solidFill>
                <a:latin typeface="Space Grotesk" pitchFamily="34" charset="0"/>
                <a:ea typeface="Space Grotesk" pitchFamily="34" charset="-122"/>
                <a:cs typeface="Space Grotesk" pitchFamily="34" charset="-120"/>
              </a:rPr>
              <a:t>560</a:t>
            </a:r>
            <a:endParaRPr lang="en-US" sz="2800" dirty="0"/>
          </a:p>
        </p:txBody>
      </p:sp>
      <p:sp>
        <p:nvSpPr>
          <p:cNvPr id="8" name="Shape 6"/>
          <p:cNvSpPr/>
          <p:nvPr/>
        </p:nvSpPr>
        <p:spPr>
          <a:xfrm>
            <a:off x="6534183" y="4810869"/>
            <a:ext cx="1142982" cy="698446"/>
          </a:xfrm>
          <a:prstGeom prst="rect">
            <a:avLst/>
          </a:prstGeom>
          <a:solidFill>
            <a:srgbClr val="A9AFD1"/>
          </a:solidFill>
          <a:ln/>
        </p:spPr>
      </p:sp>
      <p:sp>
        <p:nvSpPr>
          <p:cNvPr id="9" name="Text 7"/>
          <p:cNvSpPr/>
          <p:nvPr/>
        </p:nvSpPr>
        <p:spPr>
          <a:xfrm>
            <a:off x="6761101" y="5610876"/>
            <a:ext cx="689086" cy="256484"/>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D9D3C4"/>
                </a:solidFill>
                <a:latin typeface="IBM Plex Sans" pitchFamily="34" charset="0"/>
                <a:ea typeface="IBM Plex Sans" pitchFamily="34" charset="-122"/>
                <a:cs typeface="IBM Plex Sans" pitchFamily="34" charset="-120"/>
              </a:rPr>
              <a:t>random</a:t>
            </a:r>
            <a:endParaRPr lang="en-US" sz="1300" dirty="0"/>
          </a:p>
        </p:txBody>
      </p:sp>
      <p:sp>
        <p:nvSpPr>
          <p:cNvPr id="10" name="Text 8"/>
          <p:cNvSpPr/>
          <p:nvPr/>
        </p:nvSpPr>
        <p:spPr>
          <a:xfrm>
            <a:off x="8306050" y="3458356"/>
            <a:ext cx="1104277" cy="380993"/>
          </a:xfrm>
          <a:prstGeom prst="rect">
            <a:avLst/>
          </a:prstGeom>
          <a:noFill/>
          <a:ln/>
        </p:spPr>
        <p:txBody>
          <a:bodyPr wrap="square" lIns="0" tIns="0" rIns="0" bIns="0" rtlCol="0" anchor="t">
            <a:normAutofit/>
          </a:bodyPr>
          <a:lstStyle/>
          <a:p>
            <a:pPr algn="ctr" indent="0" marL="0">
              <a:lnSpc>
                <a:spcPts val="2800"/>
              </a:lnSpc>
              <a:buNone/>
            </a:pPr>
            <a:r>
              <a:rPr lang="en-US" sz="2800" b="1" dirty="0">
                <a:solidFill>
                  <a:srgbClr val="F3ECDD"/>
                </a:solidFill>
                <a:latin typeface="Space Grotesk" pitchFamily="34" charset="0"/>
                <a:ea typeface="Space Grotesk" pitchFamily="34" charset="-122"/>
                <a:cs typeface="Space Grotesk" pitchFamily="34" charset="-120"/>
              </a:rPr>
              <a:t>1,280</a:t>
            </a:r>
            <a:endParaRPr lang="en-US" sz="2800" dirty="0"/>
          </a:p>
        </p:txBody>
      </p:sp>
      <p:sp>
        <p:nvSpPr>
          <p:cNvPr id="11" name="Shape 9"/>
          <p:cNvSpPr/>
          <p:nvPr/>
        </p:nvSpPr>
        <p:spPr>
          <a:xfrm>
            <a:off x="8286728" y="3915513"/>
            <a:ext cx="1142982" cy="1593799"/>
          </a:xfrm>
          <a:prstGeom prst="rect">
            <a:avLst/>
          </a:prstGeom>
          <a:solidFill>
            <a:srgbClr val="F3ECDD"/>
          </a:solidFill>
          <a:ln/>
        </p:spPr>
      </p:sp>
      <p:sp>
        <p:nvSpPr>
          <p:cNvPr id="12" name="Text 10"/>
          <p:cNvSpPr/>
          <p:nvPr/>
        </p:nvSpPr>
        <p:spPr>
          <a:xfrm>
            <a:off x="8482850" y="5610876"/>
            <a:ext cx="750677" cy="256484"/>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D9D3C4"/>
                </a:solidFill>
                <a:latin typeface="IBM Plex Sans" pitchFamily="34" charset="0"/>
                <a:ea typeface="IBM Plex Sans" pitchFamily="34" charset="-122"/>
                <a:cs typeface="IBM Plex Sans" pitchFamily="34" charset="-120"/>
              </a:rPr>
              <a:t>baseline</a:t>
            </a:r>
            <a:endParaRPr lang="en-US" sz="1300" dirty="0"/>
          </a:p>
        </p:txBody>
      </p:sp>
      <p:sp>
        <p:nvSpPr>
          <p:cNvPr id="13" name="Text 11"/>
          <p:cNvSpPr/>
          <p:nvPr/>
        </p:nvSpPr>
        <p:spPr>
          <a:xfrm>
            <a:off x="9848095" y="2004163"/>
            <a:ext cx="1525337" cy="380993"/>
          </a:xfrm>
          <a:prstGeom prst="rect">
            <a:avLst/>
          </a:prstGeom>
          <a:noFill/>
          <a:ln/>
        </p:spPr>
        <p:txBody>
          <a:bodyPr wrap="square" lIns="0" tIns="0" rIns="0" bIns="0" rtlCol="0" anchor="t">
            <a:normAutofit/>
          </a:bodyPr>
          <a:lstStyle/>
          <a:p>
            <a:pPr algn="ctr" indent="0" marL="0">
              <a:lnSpc>
                <a:spcPts val="2800"/>
              </a:lnSpc>
              <a:buNone/>
            </a:pPr>
            <a:r>
              <a:rPr lang="en-US" sz="2800" b="1" dirty="0">
                <a:solidFill>
                  <a:srgbClr val="E0742B"/>
                </a:solidFill>
                <a:latin typeface="Space Grotesk" pitchFamily="34" charset="0"/>
                <a:ea typeface="Space Grotesk" pitchFamily="34" charset="-122"/>
                <a:cs typeface="Space Grotesk" pitchFamily="34" charset="-120"/>
              </a:rPr>
              <a:t>≈ 2,450</a:t>
            </a:r>
            <a:endParaRPr lang="en-US" sz="2800" dirty="0"/>
          </a:p>
        </p:txBody>
      </p:sp>
      <p:sp>
        <p:nvSpPr>
          <p:cNvPr id="14" name="Shape 12"/>
          <p:cNvSpPr/>
          <p:nvPr/>
        </p:nvSpPr>
        <p:spPr>
          <a:xfrm>
            <a:off x="10039272" y="2461320"/>
            <a:ext cx="1142982" cy="3047993"/>
          </a:xfrm>
          <a:prstGeom prst="rect">
            <a:avLst/>
          </a:prstGeom>
          <a:solidFill>
            <a:srgbClr val="E0742B"/>
          </a:solidFill>
          <a:ln/>
        </p:spPr>
      </p:sp>
      <p:sp>
        <p:nvSpPr>
          <p:cNvPr id="15" name="Text 13"/>
          <p:cNvSpPr/>
          <p:nvPr/>
        </p:nvSpPr>
        <p:spPr>
          <a:xfrm>
            <a:off x="10165472" y="5610876"/>
            <a:ext cx="890523" cy="256484"/>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F3ECDD"/>
                </a:solidFill>
                <a:latin typeface="IBM Plex Sans" pitchFamily="34" charset="0"/>
                <a:ea typeface="IBM Plex Sans" pitchFamily="34" charset="-122"/>
                <a:cs typeface="IBM Plex Sans" pitchFamily="34" charset="-120"/>
              </a:rPr>
              <a:t>LightGBM</a:t>
            </a:r>
            <a:endParaRPr lang="en-US" sz="1300" dirty="0"/>
          </a:p>
        </p:txBody>
      </p:sp>
      <p:sp>
        <p:nvSpPr>
          <p:cNvPr id="16" name="Text 14"/>
          <p:cNvSpPr/>
          <p:nvPr/>
        </p:nvSpPr>
        <p:spPr>
          <a:xfrm>
            <a:off x="5816596" y="6238249"/>
            <a:ext cx="5729443"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FD1"/>
                </a:solidFill>
                <a:latin typeface="IBM Plex Sans" pitchFamily="34" charset="0"/>
                <a:ea typeface="IBM Plex Sans" pitchFamily="34" charset="-122"/>
                <a:cs typeface="IBM Plex Sans" pitchFamily="34" charset="-120"/>
              </a:rPr>
              <a:t>Per 10,000 inspections (example budget) · 5-fold CV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7EE"/>
        </a:solidFill>
      </p:bgPr>
    </p:bg>
    <p:spTree>
      <p:nvGrpSpPr>
        <p:cNvPr id="1" name=""/>
        <p:cNvGrpSpPr/>
        <p:nvPr/>
      </p:nvGrpSpPr>
      <p:grpSpPr>
        <a:xfrm>
          <a:off x="0" y="0"/>
          <a:ext cx="0" cy="0"/>
          <a:chOff x="0" y="0"/>
          <a:chExt cx="0" cy="0"/>
        </a:xfrm>
      </p:grpSpPr>
      <p:sp>
        <p:nvSpPr>
          <p:cNvPr id="2" name="Text 0"/>
          <p:cNvSpPr/>
          <p:nvPr/>
        </p:nvSpPr>
        <p:spPr>
          <a:xfrm>
            <a:off x="812750" y="2158919"/>
            <a:ext cx="4918495" cy="27435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6B6E85"/>
                </a:solidFill>
                <a:latin typeface="IBM Plex Sans" pitchFamily="34" charset="0"/>
                <a:ea typeface="IBM Plex Sans" pitchFamily="34" charset="-122"/>
                <a:cs typeface="IBM Plex Sans" pitchFamily="34" charset="-120"/>
              </a:rPr>
              <a:t>WHAT WE DIDN’T HAVE</a:t>
            </a:r>
            <a:endParaRPr lang="en-US" sz="1400" dirty="0"/>
          </a:p>
        </p:txBody>
      </p:sp>
      <p:sp>
        <p:nvSpPr>
          <p:cNvPr id="3" name="Shape 1"/>
          <p:cNvSpPr/>
          <p:nvPr/>
        </p:nvSpPr>
        <p:spPr>
          <a:xfrm>
            <a:off x="838150" y="2661847"/>
            <a:ext cx="0" cy="350521"/>
          </a:xfrm>
          <a:prstGeom prst="line">
            <a:avLst/>
          </a:prstGeom>
          <a:noFill/>
          <a:ln w="50800">
            <a:solidFill>
              <a:srgbClr val="A9AFD1"/>
            </a:solidFill>
            <a:prstDash val="solid"/>
          </a:ln>
        </p:spPr>
      </p:sp>
      <p:sp>
        <p:nvSpPr>
          <p:cNvPr id="4" name="Text 2"/>
          <p:cNvSpPr/>
          <p:nvPr/>
        </p:nvSpPr>
        <p:spPr>
          <a:xfrm>
            <a:off x="1066188" y="2661847"/>
            <a:ext cx="4657453" cy="375921"/>
          </a:xfrm>
          <a:prstGeom prst="rect">
            <a:avLst/>
          </a:prstGeom>
          <a:noFill/>
          <a:ln/>
        </p:spPr>
        <p:txBody>
          <a:bodyPr wrap="square" lIns="0" tIns="0" rIns="0" bIns="0" rtlCol="0" anchor="t">
            <a:normAutofit/>
          </a:bodyPr>
          <a:lstStyle/>
          <a:p>
            <a:pPr algn="l" indent="0" marL="0">
              <a:lnSpc>
                <a:spcPts val="2760"/>
              </a:lnSpc>
              <a:buNone/>
            </a:pPr>
            <a:r>
              <a:rPr lang="en-US" sz="2400" b="1" dirty="0">
                <a:solidFill>
                  <a:srgbClr val="1F2B6C"/>
                </a:solidFill>
                <a:latin typeface="Space Grotesk" pitchFamily="34" charset="0"/>
                <a:ea typeface="Space Grotesk" pitchFamily="34" charset="-122"/>
                <a:cs typeface="Space Grotesk" pitchFamily="34" charset="-120"/>
              </a:rPr>
              <a:t>What do some columns mean?</a:t>
            </a:r>
            <a:endParaRPr lang="en-US" sz="2400" dirty="0"/>
          </a:p>
        </p:txBody>
      </p:sp>
      <p:sp>
        <p:nvSpPr>
          <p:cNvPr id="5" name="Shape 3"/>
          <p:cNvSpPr/>
          <p:nvPr/>
        </p:nvSpPr>
        <p:spPr>
          <a:xfrm>
            <a:off x="838150" y="3266337"/>
            <a:ext cx="0" cy="701042"/>
          </a:xfrm>
          <a:prstGeom prst="line">
            <a:avLst/>
          </a:prstGeom>
          <a:noFill/>
          <a:ln w="50800">
            <a:solidFill>
              <a:srgbClr val="A9AFD1"/>
            </a:solidFill>
            <a:prstDash val="solid"/>
          </a:ln>
        </p:spPr>
      </p:sp>
      <p:sp>
        <p:nvSpPr>
          <p:cNvPr id="6" name="Text 4"/>
          <p:cNvSpPr/>
          <p:nvPr/>
        </p:nvSpPr>
        <p:spPr>
          <a:xfrm>
            <a:off x="1066188" y="3266337"/>
            <a:ext cx="4657453" cy="726442"/>
          </a:xfrm>
          <a:prstGeom prst="rect">
            <a:avLst/>
          </a:prstGeom>
          <a:noFill/>
          <a:ln/>
        </p:spPr>
        <p:txBody>
          <a:bodyPr wrap="square" lIns="0" tIns="0" rIns="0" bIns="0" rtlCol="0" anchor="t">
            <a:normAutofit/>
          </a:bodyPr>
          <a:lstStyle/>
          <a:p>
            <a:pPr algn="l" indent="0" marL="0">
              <a:lnSpc>
                <a:spcPts val="2760"/>
              </a:lnSpc>
              <a:buNone/>
            </a:pPr>
            <a:r>
              <a:rPr lang="en-US" sz="2400" b="1" dirty="0">
                <a:solidFill>
                  <a:srgbClr val="1F2B6C"/>
                </a:solidFill>
                <a:latin typeface="Space Grotesk" pitchFamily="34" charset="0"/>
                <a:ea typeface="Space Grotesk" pitchFamily="34" charset="-122"/>
                <a:cs typeface="Space Grotesk" pitchFamily="34" charset="-120"/>
              </a:rPr>
              <a:t>When was the fraud detected?</a:t>
            </a:r>
            <a:endParaRPr lang="en-US" sz="2400" dirty="0"/>
          </a:p>
        </p:txBody>
      </p:sp>
      <p:sp>
        <p:nvSpPr>
          <p:cNvPr id="7" name="Shape 5"/>
          <p:cNvSpPr/>
          <p:nvPr/>
        </p:nvSpPr>
        <p:spPr>
          <a:xfrm>
            <a:off x="838150" y="4221349"/>
            <a:ext cx="0" cy="350521"/>
          </a:xfrm>
          <a:prstGeom prst="line">
            <a:avLst/>
          </a:prstGeom>
          <a:noFill/>
          <a:ln w="50800">
            <a:solidFill>
              <a:srgbClr val="A9AFD1"/>
            </a:solidFill>
            <a:prstDash val="solid"/>
          </a:ln>
        </p:spPr>
      </p:sp>
      <p:sp>
        <p:nvSpPr>
          <p:cNvPr id="8" name="Text 6"/>
          <p:cNvSpPr/>
          <p:nvPr/>
        </p:nvSpPr>
        <p:spPr>
          <a:xfrm>
            <a:off x="1066188" y="4221349"/>
            <a:ext cx="4657453" cy="375921"/>
          </a:xfrm>
          <a:prstGeom prst="rect">
            <a:avLst/>
          </a:prstGeom>
          <a:noFill/>
          <a:ln/>
        </p:spPr>
        <p:txBody>
          <a:bodyPr wrap="square" lIns="0" tIns="0" rIns="0" bIns="0" rtlCol="0" anchor="t">
            <a:normAutofit/>
          </a:bodyPr>
          <a:lstStyle/>
          <a:p>
            <a:pPr algn="l" indent="0" marL="0">
              <a:lnSpc>
                <a:spcPts val="2760"/>
              </a:lnSpc>
              <a:buNone/>
            </a:pPr>
            <a:r>
              <a:rPr lang="en-US" sz="2400" b="1" dirty="0">
                <a:solidFill>
                  <a:srgbClr val="1F2B6C"/>
                </a:solidFill>
                <a:latin typeface="Space Grotesk" pitchFamily="34" charset="0"/>
                <a:ea typeface="Space Grotesk" pitchFamily="34" charset="-122"/>
                <a:cs typeface="Space Grotesk" pitchFamily="34" charset="-120"/>
              </a:rPr>
              <a:t>Is using location fair?</a:t>
            </a:r>
            <a:endParaRPr lang="en-US" sz="2400" dirty="0"/>
          </a:p>
        </p:txBody>
      </p:sp>
      <p:sp>
        <p:nvSpPr>
          <p:cNvPr id="9" name="Shape 7"/>
          <p:cNvSpPr/>
          <p:nvPr/>
        </p:nvSpPr>
        <p:spPr>
          <a:xfrm>
            <a:off x="6095986" y="0"/>
            <a:ext cx="6095986" cy="6857954"/>
          </a:xfrm>
          <a:prstGeom prst="rect">
            <a:avLst/>
          </a:prstGeom>
          <a:solidFill>
            <a:srgbClr val="1F2B6C"/>
          </a:solidFill>
          <a:ln/>
        </p:spPr>
      </p:sp>
      <p:sp>
        <p:nvSpPr>
          <p:cNvPr id="10" name="Text 8"/>
          <p:cNvSpPr/>
          <p:nvPr/>
        </p:nvSpPr>
        <p:spPr>
          <a:xfrm>
            <a:off x="6603985" y="2158919"/>
            <a:ext cx="4918495" cy="27435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E0742B"/>
                </a:solidFill>
                <a:latin typeface="IBM Plex Sans" pitchFamily="34" charset="0"/>
                <a:ea typeface="IBM Plex Sans" pitchFamily="34" charset="-122"/>
                <a:cs typeface="IBM Plex Sans" pitchFamily="34" charset="-120"/>
              </a:rPr>
              <a:t>WHAT WOULD MAKE IT BETTER</a:t>
            </a:r>
            <a:endParaRPr lang="en-US" sz="1400" dirty="0"/>
          </a:p>
        </p:txBody>
      </p:sp>
      <p:sp>
        <p:nvSpPr>
          <p:cNvPr id="11" name="Shape 9"/>
          <p:cNvSpPr/>
          <p:nvPr/>
        </p:nvSpPr>
        <p:spPr>
          <a:xfrm>
            <a:off x="6629385" y="2661847"/>
            <a:ext cx="0" cy="701042"/>
          </a:xfrm>
          <a:prstGeom prst="line">
            <a:avLst/>
          </a:prstGeom>
          <a:noFill/>
          <a:ln w="50800">
            <a:solidFill>
              <a:srgbClr val="E0742B"/>
            </a:solidFill>
            <a:prstDash val="solid"/>
          </a:ln>
        </p:spPr>
      </p:sp>
      <p:sp>
        <p:nvSpPr>
          <p:cNvPr id="12" name="Text 10"/>
          <p:cNvSpPr/>
          <p:nvPr/>
        </p:nvSpPr>
        <p:spPr>
          <a:xfrm>
            <a:off x="6857424" y="2661847"/>
            <a:ext cx="4657453" cy="726442"/>
          </a:xfrm>
          <a:prstGeom prst="rect">
            <a:avLst/>
          </a:prstGeom>
          <a:noFill/>
          <a:ln/>
        </p:spPr>
        <p:txBody>
          <a:bodyPr wrap="square" lIns="0" tIns="0" rIns="0" bIns="0" rtlCol="0" anchor="t">
            <a:normAutofit/>
          </a:bodyPr>
          <a:lstStyle/>
          <a:p>
            <a:pPr algn="l" indent="0" marL="0">
              <a:lnSpc>
                <a:spcPts val="2760"/>
              </a:lnSpc>
              <a:buNone/>
            </a:pPr>
            <a:r>
              <a:rPr lang="en-US" sz="2400" b="1" dirty="0">
                <a:solidFill>
                  <a:srgbClr val="F3ECDD"/>
                </a:solidFill>
                <a:latin typeface="Space Grotesk" pitchFamily="34" charset="0"/>
                <a:ea typeface="Space Grotesk" pitchFamily="34" charset="-122"/>
                <a:cs typeface="Space Grotesk" pitchFamily="34" charset="-120"/>
              </a:rPr>
              <a:t>STEG stores the detection date</a:t>
            </a:r>
            <a:endParaRPr lang="en-US" sz="2400" dirty="0"/>
          </a:p>
        </p:txBody>
      </p:sp>
      <p:sp>
        <p:nvSpPr>
          <p:cNvPr id="13" name="Shape 11"/>
          <p:cNvSpPr/>
          <p:nvPr/>
        </p:nvSpPr>
        <p:spPr>
          <a:xfrm>
            <a:off x="6629385" y="3616858"/>
            <a:ext cx="0" cy="350521"/>
          </a:xfrm>
          <a:prstGeom prst="line">
            <a:avLst/>
          </a:prstGeom>
          <a:noFill/>
          <a:ln w="50800">
            <a:solidFill>
              <a:srgbClr val="E0742B"/>
            </a:solidFill>
            <a:prstDash val="solid"/>
          </a:ln>
        </p:spPr>
      </p:sp>
      <p:sp>
        <p:nvSpPr>
          <p:cNvPr id="14" name="Text 12"/>
          <p:cNvSpPr/>
          <p:nvPr/>
        </p:nvSpPr>
        <p:spPr>
          <a:xfrm>
            <a:off x="6857424" y="3616858"/>
            <a:ext cx="4657453" cy="375921"/>
          </a:xfrm>
          <a:prstGeom prst="rect">
            <a:avLst/>
          </a:prstGeom>
          <a:noFill/>
          <a:ln/>
        </p:spPr>
        <p:txBody>
          <a:bodyPr wrap="square" lIns="0" tIns="0" rIns="0" bIns="0" rtlCol="0" anchor="t">
            <a:normAutofit/>
          </a:bodyPr>
          <a:lstStyle/>
          <a:p>
            <a:pPr algn="l" indent="0" marL="0">
              <a:lnSpc>
                <a:spcPts val="2760"/>
              </a:lnSpc>
              <a:buNone/>
            </a:pPr>
            <a:r>
              <a:rPr lang="en-US" sz="2400" b="1" dirty="0">
                <a:solidFill>
                  <a:srgbClr val="F3ECDD"/>
                </a:solidFill>
                <a:latin typeface="Space Grotesk" pitchFamily="34" charset="0"/>
                <a:ea typeface="Space Grotesk" pitchFamily="34" charset="-122"/>
                <a:cs typeface="Space Grotesk" pitchFamily="34" charset="-120"/>
              </a:rPr>
              <a:t>Smart meters: real-time data</a:t>
            </a:r>
            <a:endParaRPr lang="en-US" sz="2400" dirty="0"/>
          </a:p>
        </p:txBody>
      </p:sp>
      <p:sp>
        <p:nvSpPr>
          <p:cNvPr id="15" name="Shape 13"/>
          <p:cNvSpPr/>
          <p:nvPr/>
        </p:nvSpPr>
        <p:spPr>
          <a:xfrm>
            <a:off x="6629385" y="4221349"/>
            <a:ext cx="0" cy="350521"/>
          </a:xfrm>
          <a:prstGeom prst="line">
            <a:avLst/>
          </a:prstGeom>
          <a:noFill/>
          <a:ln w="50800">
            <a:solidFill>
              <a:srgbClr val="E0742B"/>
            </a:solidFill>
            <a:prstDash val="solid"/>
          </a:ln>
        </p:spPr>
      </p:sp>
      <p:sp>
        <p:nvSpPr>
          <p:cNvPr id="16" name="Text 14"/>
          <p:cNvSpPr/>
          <p:nvPr/>
        </p:nvSpPr>
        <p:spPr>
          <a:xfrm>
            <a:off x="6857424" y="4221349"/>
            <a:ext cx="4657453" cy="375921"/>
          </a:xfrm>
          <a:prstGeom prst="rect">
            <a:avLst/>
          </a:prstGeom>
          <a:noFill/>
          <a:ln/>
        </p:spPr>
        <p:txBody>
          <a:bodyPr wrap="square" lIns="0" tIns="0" rIns="0" bIns="0" rtlCol="0" anchor="t">
            <a:normAutofit/>
          </a:bodyPr>
          <a:lstStyle/>
          <a:p>
            <a:pPr algn="l" indent="0" marL="0">
              <a:lnSpc>
                <a:spcPts val="2760"/>
              </a:lnSpc>
              <a:buNone/>
            </a:pPr>
            <a:r>
              <a:rPr lang="en-US" sz="2400" b="1" dirty="0">
                <a:solidFill>
                  <a:srgbClr val="F3ECDD"/>
                </a:solidFill>
                <a:latin typeface="Space Grotesk" pitchFamily="34" charset="0"/>
                <a:ea typeface="Space Grotesk" pitchFamily="34" charset="-122"/>
                <a:cs typeface="Space Grotesk" pitchFamily="34" charset="-120"/>
              </a:rPr>
              <a:t>Seasonal and trend signals</a:t>
            </a:r>
            <a:endParaRPr lang="en-US" sz="2400" dirty="0"/>
          </a:p>
        </p:txBody>
      </p:sp>
      <p:sp>
        <p:nvSpPr>
          <p:cNvPr id="17" name="Text 15"/>
          <p:cNvSpPr/>
          <p:nvPr/>
        </p:nvSpPr>
        <p:spPr>
          <a:xfrm>
            <a:off x="812750" y="812750"/>
            <a:ext cx="4918432" cy="27435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E0742B"/>
                </a:solidFill>
                <a:latin typeface="IBM Plex Sans" pitchFamily="34" charset="0"/>
                <a:ea typeface="IBM Plex Sans" pitchFamily="34" charset="-122"/>
                <a:cs typeface="IBM Plex Sans" pitchFamily="34" charset="-120"/>
              </a:rPr>
              <a:t>05 OF 05 – WHAT IT MEANS FOR STEG</a:t>
            </a:r>
            <a:endParaRPr lang="en-US" sz="1400" dirty="0"/>
          </a:p>
        </p:txBody>
      </p:sp>
      <p:sp>
        <p:nvSpPr>
          <p:cNvPr id="18" name="Text 16"/>
          <p:cNvSpPr/>
          <p:nvPr/>
        </p:nvSpPr>
        <p:spPr>
          <a:xfrm>
            <a:off x="812750" y="1168344"/>
            <a:ext cx="4918432" cy="5233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3F5C"/>
                </a:solidFill>
                <a:latin typeface="IBM Plex Sans" pitchFamily="34" charset="0"/>
                <a:ea typeface="IBM Plex Sans" pitchFamily="34" charset="-122"/>
                <a:cs typeface="IBM Plex Sans" pitchFamily="34" charset="-120"/>
              </a:rPr>
              <a:t>Our product: a </a:t>
            </a:r>
            <a:r>
              <a:rPr lang="en-US" sz="1400" b="1" dirty="0">
                <a:solidFill>
                  <a:srgbClr val="3A3F5C"/>
                </a:solidFill>
                <a:latin typeface="IBM Plex Sans" pitchFamily="34" charset="0"/>
                <a:ea typeface="IBM Plex Sans" pitchFamily="34" charset="-122"/>
                <a:cs typeface="IBM Plex Sans" pitchFamily="34" charset="-120"/>
              </a:rPr>
              <a:t>monthly priority list</a:t>
            </a:r>
            <a:r>
              <a:rPr lang="en-US" sz="1400" dirty="0">
                <a:solidFill>
                  <a:srgbClr val="3A3F5C"/>
                </a:solidFill>
                <a:latin typeface="IBM Plex Sans" pitchFamily="34" charset="0"/>
                <a:ea typeface="IBM Plex Sans" pitchFamily="34" charset="-122"/>
                <a:cs typeface="IBM Plex Sans" pitchFamily="34" charset="-120"/>
              </a:rPr>
              <a:t> for the field teams. Here is what held it back – and what would help.</a:t>
            </a:r>
            <a:endParaRPr lang="en-US" sz="1400" dirty="0"/>
          </a:p>
        </p:txBody>
      </p:sp>
      <p:sp>
        <p:nvSpPr>
          <p:cNvPr id="19" name="Text 17"/>
          <p:cNvSpPr/>
          <p:nvPr/>
        </p:nvSpPr>
        <p:spPr>
          <a:xfrm>
            <a:off x="812750" y="6238249"/>
            <a:ext cx="4918432"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E85"/>
                </a:solidFill>
                <a:latin typeface="IBM Plex Sans" pitchFamily="34" charset="0"/>
                <a:ea typeface="IBM Plex Sans" pitchFamily="34" charset="-122"/>
                <a:cs typeface="IBM Plex Sans" pitchFamily="34" charset="-120"/>
              </a:rPr>
              <a:t>The Gradient Descenders · Fraud Detection STEG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2B6C"/>
        </a:solidFill>
      </p:bgPr>
    </p:bg>
    <p:spTree>
      <p:nvGrpSpPr>
        <p:cNvPr id="1" name=""/>
        <p:cNvGrpSpPr/>
        <p:nvPr/>
      </p:nvGrpSpPr>
      <p:grpSpPr>
        <a:xfrm>
          <a:off x="0" y="0"/>
          <a:ext cx="0" cy="0"/>
          <a:chOff x="0" y="0"/>
          <a:chExt cx="0" cy="0"/>
        </a:xfrm>
      </p:grpSpPr>
      <p:sp>
        <p:nvSpPr>
          <p:cNvPr id="2" name="Shape 0"/>
          <p:cNvSpPr/>
          <p:nvPr/>
        </p:nvSpPr>
        <p:spPr>
          <a:xfrm>
            <a:off x="9143979" y="0"/>
            <a:ext cx="3047993" cy="6857954"/>
          </a:xfrm>
          <a:prstGeom prst="rect">
            <a:avLst/>
          </a:prstGeom>
          <a:solidFill>
            <a:srgbClr val="E0742B"/>
          </a:solidFill>
          <a:ln/>
        </p:spPr>
      </p:sp>
      <p:sp>
        <p:nvSpPr>
          <p:cNvPr id="3" name="Text 1"/>
          <p:cNvSpPr/>
          <p:nvPr>
            <p:ph type="title"/>
          </p:nvPr>
        </p:nvSpPr>
        <p:spPr>
          <a:xfrm>
            <a:off x="812750" y="2002830"/>
            <a:ext cx="7848582" cy="1231905"/>
          </a:xfrm>
          <a:prstGeom prst="rect">
            <a:avLst/>
          </a:prstGeom>
          <a:noFill/>
          <a:ln/>
        </p:spPr>
        <p:txBody>
          <a:bodyPr wrap="square" lIns="0" tIns="0" rIns="0" bIns="0" rtlCol="0" anchor="t">
            <a:normAutofit/>
          </a:bodyPr>
          <a:lstStyle/>
          <a:p>
            <a:pPr algn="l" indent="0" marL="0">
              <a:lnSpc>
                <a:spcPts val="9500"/>
              </a:lnSpc>
              <a:buNone/>
            </a:pPr>
            <a:r>
              <a:rPr lang="en-US" sz="10000" b="1" i="0" dirty="0">
                <a:solidFill>
                  <a:srgbClr val="F3ECDD"/>
                </a:solidFill>
                <a:latin typeface="Space Grotesk" pitchFamily="34" charset="0"/>
                <a:ea typeface="Space Grotesk" pitchFamily="34" charset="-122"/>
                <a:cs typeface="Space Grotesk" pitchFamily="34" charset="-120"/>
              </a:rPr>
              <a:t>Thank you.</a:t>
            </a:r>
            <a:endParaRPr lang="en-US" sz="10000" dirty="0"/>
          </a:p>
        </p:txBody>
      </p:sp>
      <p:sp>
        <p:nvSpPr>
          <p:cNvPr id="4" name="Text 2"/>
          <p:cNvSpPr/>
          <p:nvPr/>
        </p:nvSpPr>
        <p:spPr>
          <a:xfrm>
            <a:off x="812750" y="3463305"/>
            <a:ext cx="7848582" cy="843222"/>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E0742B"/>
                </a:solidFill>
                <a:latin typeface="Space Grotesk" pitchFamily="34" charset="0"/>
                <a:ea typeface="Space Grotesk" pitchFamily="34" charset="-122"/>
                <a:cs typeface="Space Grotesk" pitchFamily="34" charset="-120"/>
              </a:rPr>
              <a:t>Same budget. More fraud found. Honestly measured.</a:t>
            </a:r>
            <a:endParaRPr lang="en-US" sz="2800" dirty="0"/>
          </a:p>
        </p:txBody>
      </p:sp>
      <p:sp>
        <p:nvSpPr>
          <p:cNvPr id="5" name="Text 3"/>
          <p:cNvSpPr/>
          <p:nvPr/>
        </p:nvSpPr>
        <p:spPr>
          <a:xfrm>
            <a:off x="812750" y="4535097"/>
            <a:ext cx="10883467" cy="345428"/>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D9D3C4"/>
                </a:solidFill>
                <a:latin typeface="IBM Plex Sans" pitchFamily="34" charset="0"/>
                <a:ea typeface="IBM Plex Sans" pitchFamily="34" charset="-122"/>
                <a:cs typeface="IBM Plex Sans" pitchFamily="34" charset="-120"/>
              </a:rPr>
              <a:t>Questions?</a:t>
            </a:r>
            <a:endParaRPr lang="en-US" sz="1800" dirty="0"/>
          </a:p>
        </p:txBody>
      </p:sp>
      <p:sp>
        <p:nvSpPr>
          <p:cNvPr id="6" name="Text 4"/>
          <p:cNvSpPr/>
          <p:nvPr/>
        </p:nvSpPr>
        <p:spPr>
          <a:xfrm>
            <a:off x="812750" y="6238249"/>
            <a:ext cx="7848582" cy="2387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FD1"/>
                </a:solidFill>
                <a:latin typeface="IBM Plex Sans" pitchFamily="34" charset="0"/>
                <a:ea typeface="IBM Plex Sans" pitchFamily="34" charset="-122"/>
                <a:cs typeface="IBM Plex Sans" pitchFamily="34" charset="-120"/>
              </a:rPr>
              <a:t>The Gradient Descenders · Karl · Mohamed · Hadi · Luca</a:t>
            </a:r>
            <a:endParaRPr lang="en-US" sz="1200" dirty="0"/>
          </a:p>
        </p:txBody>
      </p:sp>
    </p:spTree>
  </p:cSld>
  <p:clrMapOvr>
    <a:masterClrMapping/>
  </p:clrMapOvr>
</p:sld>
</file>

<file path=ppt/theme/theme1.xml><?xml version="1.0" encoding="utf-8"?>
<a:theme xmlns:a="http://schemas.openxmlformats.org/drawingml/2006/main" name="Fraud Detection STEG – The Gradient Descenders">
  <a:themeElements>
    <a:clrScheme name="Fraud Detection STEG – The Gradient Descenders">
      <a:dk1>
        <a:srgbClr val="1F2B6C"/>
      </a:dk1>
      <a:lt1>
        <a:srgbClr val="F3ECDD"/>
      </a:lt1>
      <a:dk2>
        <a:srgbClr val="545B88"/>
      </a:dk2>
      <a:lt2>
        <a:srgbClr val="DED9D2"/>
      </a:lt2>
      <a:accent1>
        <a:srgbClr val="E0742B"/>
      </a:accent1>
      <a:accent2>
        <a:srgbClr val="A9AFD1"/>
      </a:accent2>
      <a:accent3>
        <a:srgbClr val="2B3A85"/>
      </a:accent3>
      <a:accent4>
        <a:srgbClr val="4A5899"/>
      </a:accent4>
      <a:accent5>
        <a:srgbClr val="6B6E85"/>
      </a:accent5>
      <a:accent6>
        <a:srgbClr val="3A3F5C"/>
      </a:accent6>
      <a:hlink>
        <a:srgbClr val="0563C1"/>
      </a:hlink>
      <a:folHlink>
        <a:srgbClr val="954F72"/>
      </a:folHlink>
    </a:clrScheme>
    <a:fontScheme name="Fraud Detection STEG – The Gradient Descenders">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Fraud Detection STEG – The Gradient Descenders</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2026-10-23T11:23:54Z</dcterms:created>
  <dcterms:modified xsi:type="dcterms:W3CDTF">2026-10-23T11:23:54Z</dcterms:modified>
</cp:coreProperties>
</file>